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64" r:id="rId3"/>
    <p:sldId id="257" r:id="rId4"/>
    <p:sldId id="262" r:id="rId5"/>
    <p:sldId id="265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2441675"/>
            <a:ext cx="6769287" cy="2265528"/>
          </a:xfrm>
        </p:spPr>
        <p:txBody>
          <a:bodyPr/>
          <a:lstStyle/>
          <a:p>
            <a:pPr algn="ctr"/>
            <a:r>
              <a:rPr lang="es-ES" dirty="0" smtClean="0">
                <a:solidFill>
                  <a:schemeClr val="tx1"/>
                </a:solidFill>
              </a:rPr>
              <a:t>SISTEMA NUMÉRICO 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>
                <a:solidFill>
                  <a:srgbClr val="FF0000"/>
                </a:solidFill>
              </a:rPr>
              <a:t>Uitoto - Muruy </a:t>
            </a:r>
            <a:r>
              <a:rPr lang="es-ES" dirty="0">
                <a:solidFill>
                  <a:srgbClr val="FF0000"/>
                </a:solidFill>
              </a:rPr>
              <a:t>M</a:t>
            </a:r>
            <a:r>
              <a:rPr lang="es-ES" dirty="0" smtClean="0">
                <a:solidFill>
                  <a:srgbClr val="FF0000"/>
                </a:solidFill>
              </a:rPr>
              <a:t>uyna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288" y="750627"/>
            <a:ext cx="5022377" cy="564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9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4149" y="272956"/>
            <a:ext cx="11286699" cy="2634017"/>
          </a:xfrm>
        </p:spPr>
        <p:txBody>
          <a:bodyPr>
            <a:normAutofit/>
          </a:bodyPr>
          <a:lstStyle/>
          <a:p>
            <a:pPr algn="just"/>
            <a:r>
              <a:rPr lang="es-ES" sz="3200" dirty="0" smtClean="0">
                <a:solidFill>
                  <a:schemeClr val="tx1"/>
                </a:solidFill>
              </a:rPr>
              <a:t>El sistema numérico </a:t>
            </a:r>
            <a:r>
              <a:rPr lang="es-ES" sz="3200" dirty="0">
                <a:solidFill>
                  <a:schemeClr val="tx1"/>
                </a:solidFill>
              </a:rPr>
              <a:t>d</a:t>
            </a:r>
            <a:r>
              <a:rPr lang="es-ES" sz="3200" dirty="0" smtClean="0">
                <a:solidFill>
                  <a:schemeClr val="tx1"/>
                </a:solidFill>
              </a:rPr>
              <a:t>el pueblo indígena Uitoto - </a:t>
            </a:r>
            <a:r>
              <a:rPr lang="es-ES" sz="3200" dirty="0">
                <a:solidFill>
                  <a:schemeClr val="tx1"/>
                </a:solidFill>
              </a:rPr>
              <a:t>M</a:t>
            </a:r>
            <a:r>
              <a:rPr lang="es-ES" sz="3200" dirty="0" smtClean="0">
                <a:solidFill>
                  <a:schemeClr val="tx1"/>
                </a:solidFill>
              </a:rPr>
              <a:t>uruy Muyna; se encuentra representadas mediante la secuencia que se establece, a partir de la relación, entre los dedos tanto de las manos y de los pies. Los cuales simboliza el valor numérico que se pretende representar. 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22" y="3070747"/>
            <a:ext cx="4896533" cy="346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cuidado p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746" y="3174387"/>
            <a:ext cx="4121625" cy="32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6291617" y="3862316"/>
            <a:ext cx="10781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 smtClean="0"/>
              <a:t>+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7905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3168" y="254182"/>
            <a:ext cx="8470834" cy="742105"/>
          </a:xfrm>
        </p:spPr>
        <p:txBody>
          <a:bodyPr>
            <a:normAutofit/>
          </a:bodyPr>
          <a:lstStyle/>
          <a:p>
            <a:pPr algn="ctr"/>
            <a:r>
              <a:rPr lang="es-CO" dirty="0"/>
              <a:t>SISTEMA NUMERICOS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03168" y="1241946"/>
            <a:ext cx="10711497" cy="5527971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CO" dirty="0" smtClean="0"/>
          </a:p>
          <a:p>
            <a:r>
              <a:rPr lang="es-CO" sz="3200" b="1" dirty="0" smtClean="0"/>
              <a:t>1.   </a:t>
            </a:r>
            <a:r>
              <a:rPr lang="es-CO" sz="3300" b="1" dirty="0" err="1" smtClean="0"/>
              <a:t>Daa</a:t>
            </a:r>
            <a:endParaRPr lang="es-CO" sz="3300" b="1" dirty="0" smtClean="0"/>
          </a:p>
          <a:p>
            <a:r>
              <a:rPr lang="es-CO" sz="2400" dirty="0" smtClean="0"/>
              <a:t> </a:t>
            </a:r>
            <a:r>
              <a:rPr lang="es-CO" sz="3200" b="1" dirty="0" smtClean="0">
                <a:solidFill>
                  <a:schemeClr val="accent2">
                    <a:lumMod val="75000"/>
                  </a:schemeClr>
                </a:solidFill>
              </a:rPr>
              <a:t>2.   </a:t>
            </a:r>
            <a:r>
              <a:rPr lang="es-CO" sz="3300" b="1" dirty="0" smtClean="0"/>
              <a:t>Mena</a:t>
            </a:r>
          </a:p>
          <a:p>
            <a:r>
              <a:rPr lang="es-CO" sz="3200" dirty="0" smtClean="0">
                <a:solidFill>
                  <a:schemeClr val="accent5">
                    <a:lumMod val="75000"/>
                  </a:schemeClr>
                </a:solidFill>
              </a:rPr>
              <a:t>3.   </a:t>
            </a:r>
            <a:r>
              <a:rPr lang="es-CO" sz="3300" b="1" dirty="0" err="1" smtClean="0"/>
              <a:t>Daámani</a:t>
            </a:r>
            <a:endParaRPr lang="es-CO" sz="3300" b="1" dirty="0"/>
          </a:p>
          <a:p>
            <a:r>
              <a:rPr lang="es-CO" sz="3200" b="1" dirty="0" smtClean="0">
                <a:solidFill>
                  <a:srgbClr val="FF0000"/>
                </a:solidFill>
              </a:rPr>
              <a:t>4.   </a:t>
            </a:r>
            <a:r>
              <a:rPr lang="es-CO" sz="3300" b="1" dirty="0" err="1" smtClean="0"/>
              <a:t>F+go-ámani</a:t>
            </a:r>
            <a:endParaRPr lang="es-CO" sz="3300" b="1" dirty="0"/>
          </a:p>
          <a:p>
            <a:r>
              <a:rPr lang="es-CO" sz="3500" dirty="0" smtClean="0">
                <a:solidFill>
                  <a:schemeClr val="tx1"/>
                </a:solidFill>
              </a:rPr>
              <a:t>5.  </a:t>
            </a:r>
            <a:r>
              <a:rPr lang="es-CO" sz="3300" b="1" dirty="0" err="1" smtClean="0"/>
              <a:t>Jubécuiro</a:t>
            </a:r>
            <a:endParaRPr lang="es-CO" sz="3300" b="1" dirty="0"/>
          </a:p>
          <a:p>
            <a:r>
              <a:rPr lang="es-CO" sz="3500" dirty="0" smtClean="0">
                <a:solidFill>
                  <a:schemeClr val="accent5">
                    <a:lumMod val="75000"/>
                  </a:schemeClr>
                </a:solidFill>
              </a:rPr>
              <a:t>6. 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– </a:t>
            </a:r>
            <a:r>
              <a:rPr lang="es-CO" sz="3300" b="1" dirty="0" err="1" smtClean="0"/>
              <a:t>Daa</a:t>
            </a:r>
            <a:endParaRPr lang="es-CO" sz="3300" b="1" dirty="0"/>
          </a:p>
          <a:p>
            <a:r>
              <a:rPr lang="es-CO" sz="3500" dirty="0" smtClean="0">
                <a:solidFill>
                  <a:schemeClr val="accent2">
                    <a:lumMod val="75000"/>
                  </a:schemeClr>
                </a:solidFill>
              </a:rPr>
              <a:t>7. 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- Mena</a:t>
            </a:r>
          </a:p>
          <a:p>
            <a:r>
              <a:rPr lang="es-CO" sz="3500" dirty="0" smtClean="0">
                <a:solidFill>
                  <a:srgbClr val="FF0000"/>
                </a:solidFill>
              </a:rPr>
              <a:t>8.</a:t>
            </a:r>
            <a:r>
              <a:rPr lang="es-CO" sz="2400" dirty="0" smtClean="0"/>
              <a:t>  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- </a:t>
            </a:r>
            <a:r>
              <a:rPr lang="es-CO" sz="3300" b="1" dirty="0" err="1" smtClean="0"/>
              <a:t>Daámani</a:t>
            </a:r>
            <a:endParaRPr lang="es-CO" sz="3300" b="1" dirty="0" smtClean="0"/>
          </a:p>
          <a:p>
            <a:r>
              <a:rPr lang="es-CO" sz="3500" dirty="0" smtClean="0">
                <a:solidFill>
                  <a:srgbClr val="0070C0"/>
                </a:solidFill>
              </a:rPr>
              <a:t>9. 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- </a:t>
            </a:r>
            <a:r>
              <a:rPr lang="es-CO" sz="3300" b="1" dirty="0" err="1" smtClean="0"/>
              <a:t>F+go</a:t>
            </a:r>
            <a:r>
              <a:rPr lang="es-CO" sz="3300" b="1" dirty="0" smtClean="0"/>
              <a:t>- </a:t>
            </a:r>
            <a:r>
              <a:rPr lang="es-CO" sz="3300" b="1" dirty="0" err="1"/>
              <a:t>á</a:t>
            </a:r>
            <a:r>
              <a:rPr lang="es-CO" sz="3300" b="1" dirty="0" err="1" smtClean="0"/>
              <a:t>mani</a:t>
            </a:r>
            <a:endParaRPr lang="es-CO" sz="3300" b="1" dirty="0" smtClean="0"/>
          </a:p>
          <a:p>
            <a:r>
              <a:rPr lang="es-CO" sz="2800" b="1" dirty="0" smtClean="0">
                <a:solidFill>
                  <a:schemeClr val="accent2">
                    <a:lumMod val="50000"/>
                  </a:schemeClr>
                </a:solidFill>
              </a:rPr>
              <a:t>10</a:t>
            </a:r>
            <a:r>
              <a:rPr lang="es-CO" sz="2400" b="1" dirty="0" smtClean="0">
                <a:solidFill>
                  <a:schemeClr val="accent2">
                    <a:lumMod val="50000"/>
                  </a:schemeClr>
                </a:solidFill>
              </a:rPr>
              <a:t>.   </a:t>
            </a:r>
            <a:r>
              <a:rPr lang="es-CO" sz="3300" b="1" dirty="0" err="1" smtClean="0"/>
              <a:t>Nagáfebekuiro</a:t>
            </a:r>
            <a:r>
              <a:rPr lang="es-CO" sz="3300" b="1" dirty="0" smtClean="0"/>
              <a:t>.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615" y="805366"/>
            <a:ext cx="2752725" cy="579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6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 txBox="1">
            <a:spLocks/>
          </p:cNvSpPr>
          <p:nvPr/>
        </p:nvSpPr>
        <p:spPr>
          <a:xfrm>
            <a:off x="803168" y="254182"/>
            <a:ext cx="8470834" cy="7421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CO" smtClean="0"/>
              <a:t>SISTEMA NUMERICOS</a:t>
            </a:r>
            <a:endParaRPr lang="es-CO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204716" y="1241946"/>
            <a:ext cx="11873553" cy="5527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200" b="1" dirty="0" smtClean="0"/>
              <a:t>11. </a:t>
            </a:r>
            <a:r>
              <a:rPr lang="es-CO" sz="3200" b="1" dirty="0" err="1" smtClean="0">
                <a:solidFill>
                  <a:schemeClr val="tx1"/>
                </a:solidFill>
              </a:rPr>
              <a:t>Nagáfebekuiro</a:t>
            </a:r>
            <a:r>
              <a:rPr lang="es-CO" sz="3200" b="1" dirty="0" smtClean="0">
                <a:solidFill>
                  <a:schemeClr val="tx1"/>
                </a:solidFill>
              </a:rPr>
              <a:t> -</a:t>
            </a:r>
            <a:r>
              <a:rPr lang="es-CO" sz="3200" b="1" dirty="0" smtClean="0"/>
              <a:t> </a:t>
            </a:r>
            <a:r>
              <a:rPr lang="es-CO" sz="3300" b="1" dirty="0" err="1" smtClean="0"/>
              <a:t>Daa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300" b="1" dirty="0" smtClean="0"/>
              <a:t>1</a:t>
            </a:r>
            <a:r>
              <a:rPr lang="es-CO" sz="3200" b="1" dirty="0" smtClean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s-CO" sz="3200" b="1" dirty="0" err="1">
                <a:solidFill>
                  <a:schemeClr val="tx1"/>
                </a:solidFill>
              </a:rPr>
              <a:t>Nagáfebekuiro</a:t>
            </a:r>
            <a:r>
              <a:rPr lang="es-CO" sz="3200" b="1" dirty="0">
                <a:solidFill>
                  <a:schemeClr val="tx1"/>
                </a:solidFill>
              </a:rPr>
              <a:t> -</a:t>
            </a:r>
            <a:r>
              <a:rPr lang="es-CO" sz="3200" b="1" dirty="0"/>
              <a:t> </a:t>
            </a:r>
            <a:r>
              <a:rPr lang="es-CO" sz="3300" b="1" dirty="0" smtClean="0"/>
              <a:t>Mena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200" b="1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es-CO" sz="3200" b="1" dirty="0" smtClean="0">
                <a:solidFill>
                  <a:schemeClr val="accent5">
                    <a:lumMod val="75000"/>
                  </a:schemeClr>
                </a:solidFill>
              </a:rPr>
              <a:t>3.</a:t>
            </a:r>
            <a:r>
              <a:rPr lang="es-CO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CO" sz="3200" b="1" dirty="0" err="1">
                <a:solidFill>
                  <a:schemeClr val="tx1"/>
                </a:solidFill>
              </a:rPr>
              <a:t>Nagáfebekuiro</a:t>
            </a:r>
            <a:r>
              <a:rPr lang="es-CO" sz="3200" b="1" dirty="0">
                <a:solidFill>
                  <a:schemeClr val="tx1"/>
                </a:solidFill>
              </a:rPr>
              <a:t> - </a:t>
            </a:r>
            <a:r>
              <a:rPr lang="es-CO" sz="3300" b="1" dirty="0" err="1" smtClean="0"/>
              <a:t>Daámani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200" b="1" dirty="0" smtClean="0">
                <a:solidFill>
                  <a:srgbClr val="FF0000"/>
                </a:solidFill>
              </a:rPr>
              <a:t>14. </a:t>
            </a:r>
            <a:r>
              <a:rPr lang="es-CO" sz="3200" b="1" dirty="0" err="1">
                <a:solidFill>
                  <a:schemeClr val="tx1"/>
                </a:solidFill>
              </a:rPr>
              <a:t>Nagáfebekuiro</a:t>
            </a:r>
            <a:r>
              <a:rPr lang="es-CO" sz="3200" b="1" dirty="0">
                <a:solidFill>
                  <a:schemeClr val="tx1"/>
                </a:solidFill>
              </a:rPr>
              <a:t> -</a:t>
            </a:r>
            <a:r>
              <a:rPr lang="es-CO" sz="3200" b="1" dirty="0"/>
              <a:t> </a:t>
            </a:r>
            <a:r>
              <a:rPr lang="es-CO" sz="3300" b="1" dirty="0" err="1" smtClean="0"/>
              <a:t>F+go-ámani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500" dirty="0" smtClean="0">
                <a:solidFill>
                  <a:schemeClr val="tx1"/>
                </a:solidFill>
              </a:rPr>
              <a:t>15. </a:t>
            </a:r>
            <a:r>
              <a:rPr lang="es-CO" sz="3600" b="1" dirty="0" err="1">
                <a:solidFill>
                  <a:schemeClr val="tx1"/>
                </a:solidFill>
              </a:rPr>
              <a:t>Nagáfebekuiro</a:t>
            </a:r>
            <a:r>
              <a:rPr lang="es-CO" sz="3600" b="1" dirty="0">
                <a:solidFill>
                  <a:schemeClr val="tx1"/>
                </a:solidFill>
              </a:rPr>
              <a:t> -</a:t>
            </a:r>
            <a:r>
              <a:rPr lang="es-CO" sz="3600" b="1" dirty="0"/>
              <a:t> </a:t>
            </a:r>
            <a:r>
              <a:rPr lang="es-CO" sz="3300" b="1" dirty="0" err="1" smtClean="0"/>
              <a:t>Jubécuiro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500" dirty="0" smtClean="0">
                <a:solidFill>
                  <a:schemeClr val="accent5">
                    <a:lumMod val="75000"/>
                  </a:schemeClr>
                </a:solidFill>
              </a:rPr>
              <a:t>16. </a:t>
            </a:r>
            <a:r>
              <a:rPr lang="es-CO" sz="3600" b="1" dirty="0" err="1">
                <a:solidFill>
                  <a:schemeClr val="tx1"/>
                </a:solidFill>
              </a:rPr>
              <a:t>Nagáfebekuiro</a:t>
            </a:r>
            <a:r>
              <a:rPr lang="es-CO" sz="3600" b="1" dirty="0">
                <a:solidFill>
                  <a:schemeClr val="tx1"/>
                </a:solidFill>
              </a:rPr>
              <a:t> -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– </a:t>
            </a:r>
            <a:r>
              <a:rPr lang="es-CO" sz="3300" b="1" dirty="0" err="1" smtClean="0"/>
              <a:t>Daa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500" dirty="0" smtClean="0">
                <a:solidFill>
                  <a:schemeClr val="accent2">
                    <a:lumMod val="75000"/>
                  </a:schemeClr>
                </a:solidFill>
              </a:rPr>
              <a:t>17. </a:t>
            </a:r>
            <a:r>
              <a:rPr lang="es-CO" sz="3600" b="1" dirty="0" err="1">
                <a:solidFill>
                  <a:schemeClr val="tx1"/>
                </a:solidFill>
              </a:rPr>
              <a:t>Nagáfebekuiro</a:t>
            </a:r>
            <a:r>
              <a:rPr lang="es-CO" sz="3600" b="1" dirty="0">
                <a:solidFill>
                  <a:schemeClr val="tx1"/>
                </a:solidFill>
              </a:rPr>
              <a:t> -</a:t>
            </a:r>
            <a:r>
              <a:rPr lang="es-CO" sz="3600" b="1" dirty="0"/>
              <a:t>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- Mena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500" dirty="0" smtClean="0">
                <a:solidFill>
                  <a:srgbClr val="FF0000"/>
                </a:solidFill>
              </a:rPr>
              <a:t>18.</a:t>
            </a:r>
            <a:r>
              <a:rPr lang="es-CO" sz="2400" dirty="0" smtClean="0"/>
              <a:t> </a:t>
            </a:r>
            <a:r>
              <a:rPr lang="es-CO" sz="3300" b="1" dirty="0" err="1">
                <a:solidFill>
                  <a:schemeClr val="tx1"/>
                </a:solidFill>
              </a:rPr>
              <a:t>Nagáfebekuiro</a:t>
            </a:r>
            <a:r>
              <a:rPr lang="es-CO" sz="3300" b="1" dirty="0">
                <a:solidFill>
                  <a:schemeClr val="tx1"/>
                </a:solidFill>
              </a:rPr>
              <a:t> -</a:t>
            </a:r>
            <a:r>
              <a:rPr lang="es-CO" sz="2400" b="1" dirty="0"/>
              <a:t>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- </a:t>
            </a:r>
            <a:r>
              <a:rPr lang="es-CO" sz="3300" b="1" dirty="0" err="1" smtClean="0"/>
              <a:t>Daámani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3500" dirty="0" smtClean="0">
                <a:solidFill>
                  <a:srgbClr val="0070C0"/>
                </a:solidFill>
              </a:rPr>
              <a:t>19. </a:t>
            </a:r>
            <a:r>
              <a:rPr lang="es-CO" sz="3600" b="1" dirty="0" err="1" smtClean="0">
                <a:solidFill>
                  <a:schemeClr val="tx1"/>
                </a:solidFill>
              </a:rPr>
              <a:t>Nagáfebekuiro</a:t>
            </a:r>
            <a:r>
              <a:rPr lang="es-CO" sz="3600" b="1" dirty="0" smtClean="0">
                <a:solidFill>
                  <a:schemeClr val="tx1"/>
                </a:solidFill>
              </a:rPr>
              <a:t> </a:t>
            </a:r>
            <a:r>
              <a:rPr lang="es-CO" sz="3600" b="1" dirty="0">
                <a:solidFill>
                  <a:schemeClr val="tx1"/>
                </a:solidFill>
              </a:rPr>
              <a:t>-</a:t>
            </a:r>
            <a:r>
              <a:rPr lang="es-CO" sz="3600" b="1" dirty="0"/>
              <a:t> </a:t>
            </a:r>
            <a:r>
              <a:rPr lang="es-CO" sz="3300" b="1" dirty="0" err="1" smtClean="0"/>
              <a:t>Jubécuiro</a:t>
            </a:r>
            <a:r>
              <a:rPr lang="es-CO" sz="3300" b="1" dirty="0" smtClean="0"/>
              <a:t> - </a:t>
            </a:r>
            <a:r>
              <a:rPr lang="es-CO" sz="3300" b="1" dirty="0" err="1" smtClean="0"/>
              <a:t>F+go</a:t>
            </a:r>
            <a:r>
              <a:rPr lang="es-CO" sz="3300" b="1" dirty="0" smtClean="0"/>
              <a:t>- </a:t>
            </a:r>
            <a:r>
              <a:rPr lang="es-CO" sz="3300" b="1" dirty="0" err="1" smtClean="0"/>
              <a:t>amani</a:t>
            </a:r>
            <a:endParaRPr lang="es-CO" sz="3300" b="1" dirty="0" smtClean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CO" sz="2800" b="1" dirty="0" smtClean="0">
                <a:solidFill>
                  <a:schemeClr val="accent2">
                    <a:lumMod val="50000"/>
                  </a:schemeClr>
                </a:solidFill>
              </a:rPr>
              <a:t>20</a:t>
            </a:r>
            <a:r>
              <a:rPr lang="es-CO" sz="2400" b="1" dirty="0" smtClean="0">
                <a:solidFill>
                  <a:schemeClr val="accent2">
                    <a:lumMod val="50000"/>
                  </a:schemeClr>
                </a:solidFill>
              </a:rPr>
              <a:t>.  </a:t>
            </a:r>
            <a:r>
              <a:rPr lang="es-CO" sz="3300" b="1" dirty="0" err="1" smtClean="0">
                <a:solidFill>
                  <a:schemeClr val="tx1"/>
                </a:solidFill>
              </a:rPr>
              <a:t>Naga</a:t>
            </a:r>
            <a:r>
              <a:rPr lang="es-CO" sz="3300" b="1" dirty="0" smtClean="0">
                <a:solidFill>
                  <a:schemeClr val="tx1"/>
                </a:solidFill>
              </a:rPr>
              <a:t> </a:t>
            </a:r>
            <a:r>
              <a:rPr lang="es-CO" sz="3300" b="1" dirty="0" err="1" smtClean="0">
                <a:solidFill>
                  <a:schemeClr val="tx1"/>
                </a:solidFill>
              </a:rPr>
              <a:t>ono</a:t>
            </a:r>
            <a:r>
              <a:rPr lang="es-CO" sz="3300" b="1" dirty="0" smtClean="0">
                <a:solidFill>
                  <a:schemeClr val="tx1"/>
                </a:solidFill>
              </a:rPr>
              <a:t>+ - </a:t>
            </a:r>
            <a:r>
              <a:rPr lang="es-CO" sz="3300" b="1" dirty="0" err="1">
                <a:solidFill>
                  <a:schemeClr val="tx1"/>
                </a:solidFill>
              </a:rPr>
              <a:t>N</a:t>
            </a:r>
            <a:r>
              <a:rPr lang="es-CO" sz="3300" b="1" dirty="0" err="1" smtClean="0">
                <a:solidFill>
                  <a:schemeClr val="tx1"/>
                </a:solidFill>
              </a:rPr>
              <a:t>aga</a:t>
            </a:r>
            <a:r>
              <a:rPr lang="es-CO" sz="3300" b="1" dirty="0" smtClean="0">
                <a:solidFill>
                  <a:schemeClr val="tx1"/>
                </a:solidFill>
              </a:rPr>
              <a:t> +da+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145" y="2019869"/>
            <a:ext cx="3425587" cy="382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7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68406"/>
            <a:ext cx="10090750" cy="864358"/>
          </a:xfrm>
        </p:spPr>
        <p:txBody>
          <a:bodyPr/>
          <a:lstStyle/>
          <a:p>
            <a:pPr algn="ctr"/>
            <a:r>
              <a:rPr lang="es-ES" dirty="0" smtClean="0">
                <a:solidFill>
                  <a:schemeClr val="tx1"/>
                </a:solidFill>
              </a:rPr>
              <a:t>VOCABULARIO REFERENCIAL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132763"/>
            <a:ext cx="10391000" cy="55819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ONO+</a:t>
            </a:r>
            <a:r>
              <a:rPr lang="es-ES" sz="3200" dirty="0" smtClean="0"/>
              <a:t>: Mano                 </a:t>
            </a:r>
            <a:r>
              <a:rPr lang="es-ES" sz="3200" dirty="0" smtClean="0">
                <a:solidFill>
                  <a:srgbClr val="FF0000"/>
                </a:solidFill>
              </a:rPr>
              <a:t>EIKA+</a:t>
            </a:r>
            <a:r>
              <a:rPr lang="es-ES" sz="3200" dirty="0" smtClean="0"/>
              <a:t> : Dedos del pie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+DA+</a:t>
            </a:r>
            <a:r>
              <a:rPr lang="es-ES" sz="3200" dirty="0" smtClean="0"/>
              <a:t>:  Pie                    </a:t>
            </a:r>
            <a:r>
              <a:rPr lang="es-ES" sz="3200" dirty="0" smtClean="0">
                <a:solidFill>
                  <a:srgbClr val="FF0000"/>
                </a:solidFill>
              </a:rPr>
              <a:t>ONOKA+</a:t>
            </a:r>
            <a:r>
              <a:rPr lang="es-ES" sz="3200" dirty="0" smtClean="0"/>
              <a:t>: Dedos de la mano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N+GA+</a:t>
            </a:r>
            <a:r>
              <a:rPr lang="es-ES" sz="3200" dirty="0" smtClean="0"/>
              <a:t>: Cuánto             </a:t>
            </a:r>
            <a:r>
              <a:rPr lang="es-ES" sz="3200" dirty="0" smtClean="0">
                <a:solidFill>
                  <a:srgbClr val="FF0000"/>
                </a:solidFill>
              </a:rPr>
              <a:t>AMAT+A+</a:t>
            </a:r>
            <a:r>
              <a:rPr lang="es-ES" sz="3200" dirty="0" smtClean="0"/>
              <a:t>: Hermanos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KOMEK+</a:t>
            </a:r>
            <a:r>
              <a:rPr lang="es-ES" sz="3200" dirty="0" smtClean="0"/>
              <a:t>: Corazón         </a:t>
            </a:r>
            <a:r>
              <a:rPr lang="es-ES" sz="3200" dirty="0" smtClean="0">
                <a:solidFill>
                  <a:srgbClr val="FF0000"/>
                </a:solidFill>
              </a:rPr>
              <a:t>MIR+NGOA+</a:t>
            </a:r>
            <a:r>
              <a:rPr lang="es-ES" sz="3200" dirty="0" smtClean="0"/>
              <a:t>: Hermanas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+FOK+: </a:t>
            </a:r>
            <a:r>
              <a:rPr lang="es-ES" sz="3200" dirty="0" smtClean="0"/>
              <a:t>Cabeza             </a:t>
            </a:r>
            <a:r>
              <a:rPr lang="es-ES" sz="3200" dirty="0" smtClean="0">
                <a:solidFill>
                  <a:srgbClr val="FF0000"/>
                </a:solidFill>
              </a:rPr>
              <a:t>IEREDE</a:t>
            </a:r>
            <a:r>
              <a:rPr lang="es-ES" sz="3200" dirty="0" smtClean="0"/>
              <a:t>: Tener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CHAMU</a:t>
            </a:r>
            <a:r>
              <a:rPr lang="es-ES" sz="3200" dirty="0" smtClean="0"/>
              <a:t>: Pez                 </a:t>
            </a:r>
            <a:r>
              <a:rPr lang="es-ES" sz="3200" dirty="0" smtClean="0">
                <a:solidFill>
                  <a:srgbClr val="FF0000"/>
                </a:solidFill>
              </a:rPr>
              <a:t>IODO</a:t>
            </a:r>
            <a:r>
              <a:rPr lang="es-ES" sz="3200" dirty="0" smtClean="0"/>
              <a:t>: Camino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GITOMA</a:t>
            </a:r>
            <a:r>
              <a:rPr lang="es-ES" sz="3200" dirty="0" smtClean="0"/>
              <a:t>: Sol                 </a:t>
            </a:r>
            <a:r>
              <a:rPr lang="es-ES" sz="3200" dirty="0" smtClean="0">
                <a:solidFill>
                  <a:srgbClr val="FF0000"/>
                </a:solidFill>
              </a:rPr>
              <a:t>ITE</a:t>
            </a:r>
            <a:r>
              <a:rPr lang="es-ES" sz="3200" dirty="0" smtClean="0"/>
              <a:t>: Verbo ser/estar, hay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 smtClean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F+UY</a:t>
            </a:r>
            <a:r>
              <a:rPr lang="es-ES" sz="3200" dirty="0" smtClean="0"/>
              <a:t>: Luna                   </a:t>
            </a:r>
            <a:r>
              <a:rPr lang="es-ES" sz="3200" dirty="0" smtClean="0">
                <a:solidFill>
                  <a:srgbClr val="FF0000"/>
                </a:solidFill>
              </a:rPr>
              <a:t>K+NA+</a:t>
            </a:r>
            <a:r>
              <a:rPr lang="es-ES" sz="3200" dirty="0" smtClean="0"/>
              <a:t>: Hamaca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ES" sz="3200" dirty="0"/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UKUDO</a:t>
            </a:r>
            <a:r>
              <a:rPr lang="es-ES" sz="3200" dirty="0" smtClean="0"/>
              <a:t>: Estrella            </a:t>
            </a:r>
            <a:r>
              <a:rPr lang="es-ES" sz="3200" dirty="0" smtClean="0">
                <a:solidFill>
                  <a:srgbClr val="FF0000"/>
                </a:solidFill>
              </a:rPr>
              <a:t>KUERÁDOZI</a:t>
            </a:r>
            <a:r>
              <a:rPr lang="es-ES" sz="3200" dirty="0" smtClean="0"/>
              <a:t>: Lápiz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047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439157" cy="670560"/>
          </a:xfrm>
        </p:spPr>
        <p:txBody>
          <a:bodyPr>
            <a:normAutofit/>
          </a:bodyPr>
          <a:lstStyle/>
          <a:p>
            <a:pPr algn="ctr"/>
            <a:r>
              <a:rPr lang="es-ES" sz="3200" dirty="0" smtClean="0">
                <a:solidFill>
                  <a:schemeClr val="bg2">
                    <a:lumMod val="25000"/>
                  </a:schemeClr>
                </a:solidFill>
              </a:rPr>
              <a:t>DIALOGO SOBRE SISTEMA NUMERICO</a:t>
            </a:r>
            <a:endParaRPr lang="en-US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607707"/>
            <a:ext cx="11196803" cy="4642968"/>
          </a:xfrm>
        </p:spPr>
        <p:txBody>
          <a:bodyPr>
            <a:normAutofit/>
          </a:bodyPr>
          <a:lstStyle/>
          <a:p>
            <a:pPr algn="just"/>
            <a:r>
              <a:rPr lang="es-ES" sz="2800" dirty="0"/>
              <a:t>¿</a:t>
            </a:r>
            <a:r>
              <a:rPr lang="es-ES" sz="2800" dirty="0" err="1"/>
              <a:t>N+ga</a:t>
            </a:r>
            <a:r>
              <a:rPr lang="es-ES" sz="2800" dirty="0"/>
              <a:t> o </a:t>
            </a:r>
            <a:r>
              <a:rPr lang="es-ES" sz="2800" dirty="0" err="1"/>
              <a:t>ono</a:t>
            </a:r>
            <a:r>
              <a:rPr lang="es-ES" sz="2800" dirty="0" smtClean="0"/>
              <a:t>+ </a:t>
            </a:r>
            <a:r>
              <a:rPr lang="es-ES" sz="2800" dirty="0" err="1" smtClean="0"/>
              <a:t>iered+o</a:t>
            </a:r>
            <a:r>
              <a:rPr lang="es-ES" sz="2800" dirty="0" smtClean="0"/>
              <a:t>? </a:t>
            </a:r>
            <a:r>
              <a:rPr lang="es-ES" sz="2800" dirty="0" err="1">
                <a:solidFill>
                  <a:schemeClr val="bg2">
                    <a:lumMod val="25000"/>
                  </a:schemeClr>
                </a:solidFill>
              </a:rPr>
              <a:t>Kue</a:t>
            </a:r>
            <a:r>
              <a:rPr lang="es-ES" sz="2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2">
                    <a:lumMod val="25000"/>
                  </a:schemeClr>
                </a:solidFill>
              </a:rPr>
              <a:t>ono</a:t>
            </a:r>
            <a:r>
              <a:rPr lang="es-ES" sz="2800" dirty="0">
                <a:solidFill>
                  <a:schemeClr val="bg2">
                    <a:lumMod val="25000"/>
                  </a:schemeClr>
                </a:solidFill>
              </a:rPr>
              <a:t>+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menade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¿Cuántas manos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tienes?</a:t>
            </a:r>
            <a:endParaRPr lang="es-ES" sz="28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   Mis 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manos son dos.</a:t>
            </a:r>
          </a:p>
          <a:p>
            <a:pPr algn="just"/>
            <a:r>
              <a:rPr lang="es-ES" sz="2800" dirty="0"/>
              <a:t>¿</a:t>
            </a:r>
            <a:r>
              <a:rPr lang="es-ES" sz="2800" dirty="0" err="1"/>
              <a:t>N+ga</a:t>
            </a:r>
            <a:r>
              <a:rPr lang="es-ES" sz="2800" dirty="0"/>
              <a:t> o +</a:t>
            </a:r>
            <a:r>
              <a:rPr lang="es-ES" sz="2800" dirty="0" err="1"/>
              <a:t>fok</a:t>
            </a:r>
            <a:r>
              <a:rPr lang="es-ES" sz="2800" dirty="0" smtClean="0"/>
              <a:t>+ </a:t>
            </a:r>
            <a:r>
              <a:rPr lang="es-ES" sz="2800" dirty="0" err="1" smtClean="0"/>
              <a:t>iered+o</a:t>
            </a:r>
            <a:r>
              <a:rPr lang="es-ES" sz="2800" dirty="0" smtClean="0"/>
              <a:t>? </a:t>
            </a:r>
            <a:r>
              <a:rPr lang="es-ES" sz="2800" dirty="0" err="1"/>
              <a:t>Kue</a:t>
            </a:r>
            <a:r>
              <a:rPr lang="es-ES" sz="2800" dirty="0"/>
              <a:t> +</a:t>
            </a:r>
            <a:r>
              <a:rPr lang="es-ES" sz="2800" dirty="0" err="1"/>
              <a:t>fok</a:t>
            </a:r>
            <a:r>
              <a:rPr lang="es-ES" sz="2800" dirty="0"/>
              <a:t>+ </a:t>
            </a:r>
            <a:r>
              <a:rPr lang="es-ES" sz="2800" smtClean="0"/>
              <a:t>daa</a:t>
            </a:r>
            <a:r>
              <a:rPr lang="es-ES" sz="2800" smtClean="0">
                <a:solidFill>
                  <a:schemeClr val="tx1"/>
                </a:solidFill>
              </a:rPr>
              <a:t> 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¿Cuántas cabezas tiene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? Yo tengo una cabeza.</a:t>
            </a:r>
          </a:p>
          <a:p>
            <a:pPr algn="just"/>
            <a:r>
              <a:rPr lang="es-ES" sz="2800" dirty="0" smtClean="0"/>
              <a:t>¿</a:t>
            </a:r>
            <a:r>
              <a:rPr lang="es-ES" sz="2800" dirty="0" err="1"/>
              <a:t>N+ga</a:t>
            </a:r>
            <a:r>
              <a:rPr lang="es-ES" sz="2800" dirty="0"/>
              <a:t> </a:t>
            </a:r>
            <a:r>
              <a:rPr lang="es-ES" sz="2800" dirty="0" smtClean="0"/>
              <a:t>o +</a:t>
            </a:r>
            <a:r>
              <a:rPr lang="es-ES" sz="2800" dirty="0" err="1" smtClean="0"/>
              <a:t>daka</a:t>
            </a:r>
            <a:r>
              <a:rPr lang="es-ES" sz="2800" dirty="0" smtClean="0"/>
              <a:t>+ </a:t>
            </a:r>
            <a:r>
              <a:rPr lang="es-ES" sz="2800" dirty="0" err="1" smtClean="0"/>
              <a:t>iered+o</a:t>
            </a:r>
            <a:r>
              <a:rPr lang="es-ES" sz="2800" dirty="0" smtClean="0"/>
              <a:t>? </a:t>
            </a:r>
            <a:r>
              <a:rPr lang="es-ES" sz="2800" dirty="0" err="1"/>
              <a:t>Kue</a:t>
            </a:r>
            <a:r>
              <a:rPr lang="es-ES" sz="2800" dirty="0"/>
              <a:t> </a:t>
            </a:r>
            <a:r>
              <a:rPr lang="es-ES" sz="2800" dirty="0" smtClean="0"/>
              <a:t>+</a:t>
            </a:r>
            <a:r>
              <a:rPr lang="es-ES" sz="2800" dirty="0" err="1" smtClean="0"/>
              <a:t>daka</a:t>
            </a:r>
            <a:r>
              <a:rPr lang="es-ES" sz="2800" dirty="0"/>
              <a:t>+ </a:t>
            </a:r>
            <a:r>
              <a:rPr lang="es-ES" sz="2800" dirty="0" err="1" smtClean="0"/>
              <a:t>nagafeba</a:t>
            </a:r>
            <a:r>
              <a:rPr lang="es-ES" sz="2800" dirty="0"/>
              <a:t> </a:t>
            </a:r>
            <a:r>
              <a:rPr lang="es-ES" sz="2800" dirty="0" err="1" smtClean="0"/>
              <a:t>iered+kue</a:t>
            </a:r>
            <a:r>
              <a:rPr lang="es-ES" sz="2800" dirty="0" smtClean="0"/>
              <a:t>. 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¿Cuántos dedos del pie tienes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? Yo tengo diez dedos en el pie.</a:t>
            </a:r>
          </a:p>
          <a:p>
            <a:pPr algn="just"/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¿O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n+ga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amat+a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+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iemei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mir+ngoia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+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iered+o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?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Kue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mena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amat+a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iemei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daamani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mir+gnoa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+ </a:t>
            </a:r>
            <a:r>
              <a:rPr lang="es-ES" sz="2800" dirty="0" err="1" smtClean="0">
                <a:solidFill>
                  <a:schemeClr val="bg2">
                    <a:lumMod val="25000"/>
                  </a:schemeClr>
                </a:solidFill>
              </a:rPr>
              <a:t>iered+kue</a:t>
            </a:r>
            <a:r>
              <a:rPr lang="es-ES" sz="2800" dirty="0" smtClean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s-ES" sz="2800" dirty="0" err="1" smtClean="0">
                <a:solidFill>
                  <a:schemeClr val="accent5">
                    <a:lumMod val="75000"/>
                  </a:schemeClr>
                </a:solidFill>
              </a:rPr>
              <a:t>Ud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, cuántos hermanos y hermanas tienes? Yo tengo dos hermanos y tres hermanas.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6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07067" y="1583139"/>
            <a:ext cx="7766936" cy="4308209"/>
          </a:xfrm>
        </p:spPr>
        <p:txBody>
          <a:bodyPr>
            <a:normAutofit/>
          </a:bodyPr>
          <a:lstStyle/>
          <a:p>
            <a:pPr algn="ctr"/>
            <a:r>
              <a:rPr lang="es-ES" sz="4400" dirty="0" smtClean="0">
                <a:solidFill>
                  <a:srgbClr val="FF0000"/>
                </a:solidFill>
              </a:rPr>
              <a:t>F+GORA</a:t>
            </a:r>
          </a:p>
          <a:p>
            <a:pPr algn="ctr"/>
            <a:r>
              <a:rPr lang="es-ES" sz="4400" dirty="0">
                <a:solidFill>
                  <a:schemeClr val="tx1"/>
                </a:solidFill>
              </a:rPr>
              <a:t>Muchas </a:t>
            </a:r>
            <a:r>
              <a:rPr lang="es-ES" sz="4400" dirty="0" smtClean="0">
                <a:solidFill>
                  <a:schemeClr val="tx1"/>
                </a:solidFill>
              </a:rPr>
              <a:t>gracias</a:t>
            </a:r>
            <a:endParaRPr lang="es-ES" sz="4400" dirty="0" smtClean="0">
              <a:solidFill>
                <a:srgbClr val="FF0000"/>
              </a:solidFill>
            </a:endParaRPr>
          </a:p>
          <a:p>
            <a:pPr algn="ctr"/>
            <a:r>
              <a:rPr lang="es-ES" sz="4400" dirty="0" smtClean="0">
                <a:solidFill>
                  <a:srgbClr val="FF0000"/>
                </a:solidFill>
              </a:rPr>
              <a:t>ÑUE ITE</a:t>
            </a:r>
          </a:p>
          <a:p>
            <a:pPr algn="ctr"/>
            <a:r>
              <a:rPr lang="es-ES" sz="4400" dirty="0" smtClean="0">
                <a:solidFill>
                  <a:schemeClr val="tx1"/>
                </a:solidFill>
              </a:rPr>
              <a:t>Esta bien</a:t>
            </a:r>
          </a:p>
        </p:txBody>
      </p:sp>
    </p:spTree>
    <p:extLst>
      <p:ext uri="{BB962C8B-B14F-4D97-AF65-F5344CB8AC3E}">
        <p14:creationId xmlns:p14="http://schemas.microsoft.com/office/powerpoint/2010/main" val="22942876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652</TotalTime>
  <Words>359</Words>
  <Application>Microsoft Office PowerPoint</Application>
  <PresentationFormat>Panorámica</PresentationFormat>
  <Paragraphs>47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Faceta</vt:lpstr>
      <vt:lpstr>SISTEMA NUMÉRICO  Uitoto - Muruy Muyna</vt:lpstr>
      <vt:lpstr>El sistema numérico del pueblo indígena Uitoto - Muruy Muyna; se encuentra representadas mediante la secuencia que se establece, a partir de la relación, entre los dedos tanto de las manos y de los pies. Los cuales simboliza el valor numérico que se pretende representar. </vt:lpstr>
      <vt:lpstr>SISTEMA NUMERICOS</vt:lpstr>
      <vt:lpstr>Presentación de PowerPoint</vt:lpstr>
      <vt:lpstr>VOCABULARIO REFERENCIAL</vt:lpstr>
      <vt:lpstr>DIALOGO SOBRE SISTEMA NUMERICO</vt:lpstr>
      <vt:lpstr>Presentación de PowerPoint</vt:lpstr>
    </vt:vector>
  </TitlesOfParts>
  <Company>MH-SCCMSA03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COLORES</dc:title>
  <dc:creator>Biblioteca Consulta</dc:creator>
  <cp:lastModifiedBy>NORFARMAR</cp:lastModifiedBy>
  <cp:revision>65</cp:revision>
  <dcterms:created xsi:type="dcterms:W3CDTF">2024-11-20T14:16:24Z</dcterms:created>
  <dcterms:modified xsi:type="dcterms:W3CDTF">2026-04-17T18:43:50Z</dcterms:modified>
</cp:coreProperties>
</file>