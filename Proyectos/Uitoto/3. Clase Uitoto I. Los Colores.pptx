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2" r:id="rId2"/>
    <p:sldId id="257" r:id="rId3"/>
    <p:sldId id="256" r:id="rId4"/>
    <p:sldId id="260" r:id="rId5"/>
    <p:sldId id="258" r:id="rId6"/>
    <p:sldId id="261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8" t="6335" r="7127" b="5203"/>
          <a:stretch/>
        </p:blipFill>
        <p:spPr>
          <a:xfrm>
            <a:off x="5977719" y="477838"/>
            <a:ext cx="5705856" cy="60730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CuadroTexto 4"/>
          <p:cNvSpPr txBox="1"/>
          <p:nvPr/>
        </p:nvSpPr>
        <p:spPr>
          <a:xfrm>
            <a:off x="259307" y="1187355"/>
            <a:ext cx="52816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8800" dirty="0" smtClean="0"/>
          </a:p>
          <a:p>
            <a:r>
              <a:rPr lang="es-ES" sz="8800" dirty="0" smtClean="0"/>
              <a:t>LOS </a:t>
            </a:r>
            <a:r>
              <a:rPr lang="es-ES" sz="8800" dirty="0" smtClean="0">
                <a:solidFill>
                  <a:srgbClr val="FF0000"/>
                </a:solidFill>
              </a:rPr>
              <a:t>C</a:t>
            </a:r>
            <a:r>
              <a:rPr lang="es-ES" sz="8800" dirty="0" smtClean="0"/>
              <a:t>O</a:t>
            </a:r>
            <a:r>
              <a:rPr lang="es-ES" sz="8800" dirty="0" smtClean="0">
                <a:solidFill>
                  <a:srgbClr val="00B050"/>
                </a:solidFill>
              </a:rPr>
              <a:t>L</a:t>
            </a:r>
            <a:r>
              <a:rPr lang="es-ES" sz="8800" dirty="0" smtClean="0"/>
              <a:t>O</a:t>
            </a:r>
            <a:r>
              <a:rPr lang="es-ES" sz="8800" dirty="0" smtClean="0">
                <a:solidFill>
                  <a:srgbClr val="00B0F0"/>
                </a:solidFill>
              </a:rPr>
              <a:t>R</a:t>
            </a:r>
            <a:r>
              <a:rPr lang="es-ES" sz="8800" dirty="0" smtClean="0"/>
              <a:t>E</a:t>
            </a:r>
            <a:r>
              <a:rPr lang="es-ES" sz="8800" dirty="0" smtClean="0">
                <a:solidFill>
                  <a:srgbClr val="7030A0"/>
                </a:solidFill>
              </a:rPr>
              <a:t>S</a:t>
            </a:r>
            <a:endParaRPr lang="en-US" sz="8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906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1489167"/>
            <a:ext cx="10034209" cy="4552196"/>
          </a:xfrm>
        </p:spPr>
        <p:txBody>
          <a:bodyPr/>
          <a:lstStyle/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endParaRPr lang="en-US" dirty="0"/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788565" y="1455486"/>
            <a:ext cx="10053606" cy="524575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4000" dirty="0" smtClean="0"/>
              <a:t> Verde        : </a:t>
            </a:r>
            <a:r>
              <a:rPr lang="es-CO" sz="4000" dirty="0" err="1" smtClean="0"/>
              <a:t>mokorede</a:t>
            </a:r>
            <a:r>
              <a:rPr lang="es-CO" sz="4000" dirty="0" smtClean="0"/>
              <a:t>         </a:t>
            </a:r>
          </a:p>
          <a:p>
            <a:r>
              <a:rPr lang="es-CO" sz="4000" dirty="0" smtClean="0"/>
              <a:t> Negro        : </a:t>
            </a:r>
            <a:r>
              <a:rPr lang="es-CO" sz="4000" dirty="0" err="1" smtClean="0"/>
              <a:t>jit+rede</a:t>
            </a:r>
            <a:r>
              <a:rPr lang="es-CO" sz="4000" dirty="0" smtClean="0"/>
              <a:t>             </a:t>
            </a:r>
          </a:p>
          <a:p>
            <a:r>
              <a:rPr lang="es-CO" sz="4000" dirty="0" smtClean="0"/>
              <a:t> Amarillo     : </a:t>
            </a:r>
            <a:r>
              <a:rPr lang="es-CO" sz="4000" dirty="0" err="1" smtClean="0"/>
              <a:t>borarede</a:t>
            </a:r>
            <a:r>
              <a:rPr lang="es-CO" sz="4000" dirty="0" smtClean="0"/>
              <a:t>     </a:t>
            </a:r>
          </a:p>
          <a:p>
            <a:r>
              <a:rPr lang="es-CO" sz="4000" dirty="0" smtClean="0"/>
              <a:t> Blanco       : </a:t>
            </a:r>
            <a:r>
              <a:rPr lang="es-CO" sz="4000" dirty="0" err="1" smtClean="0"/>
              <a:t>ucerede</a:t>
            </a:r>
            <a:r>
              <a:rPr lang="es-CO" sz="4000" dirty="0" smtClean="0"/>
              <a:t>             </a:t>
            </a:r>
          </a:p>
          <a:p>
            <a:r>
              <a:rPr lang="es-CO" sz="4000" dirty="0" smtClean="0"/>
              <a:t> </a:t>
            </a:r>
            <a:r>
              <a:rPr lang="es-CO" sz="4000" dirty="0" err="1" smtClean="0"/>
              <a:t>Azúl</a:t>
            </a:r>
            <a:r>
              <a:rPr lang="es-CO" sz="4000" dirty="0" smtClean="0"/>
              <a:t>           : </a:t>
            </a:r>
            <a:r>
              <a:rPr lang="es-CO" sz="4000" dirty="0" err="1" smtClean="0"/>
              <a:t>mogorede</a:t>
            </a:r>
            <a:r>
              <a:rPr lang="es-CO" sz="4000" dirty="0" smtClean="0"/>
              <a:t>        </a:t>
            </a:r>
          </a:p>
          <a:p>
            <a:r>
              <a:rPr lang="es-CO" sz="4000" dirty="0" smtClean="0"/>
              <a:t> Gris           : </a:t>
            </a:r>
            <a:r>
              <a:rPr lang="es-CO" sz="4000" dirty="0" err="1" smtClean="0"/>
              <a:t>jizerede</a:t>
            </a:r>
            <a:r>
              <a:rPr lang="es-CO" sz="4000" dirty="0" smtClean="0"/>
              <a:t>          </a:t>
            </a:r>
          </a:p>
          <a:p>
            <a:r>
              <a:rPr lang="es-CO" sz="4000" dirty="0" smtClean="0"/>
              <a:t> Rojo           :</a:t>
            </a:r>
            <a:r>
              <a:rPr lang="es-CO" sz="4000" dirty="0" err="1" smtClean="0"/>
              <a:t>jiá+rede</a:t>
            </a:r>
            <a:r>
              <a:rPr lang="es-CO" sz="4000" dirty="0" smtClean="0"/>
              <a:t>            </a:t>
            </a:r>
          </a:p>
          <a:p>
            <a:endParaRPr lang="es-CO" sz="40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2D1688F-AD76-4324-89E8-100281FC65D9}"/>
              </a:ext>
            </a:extLst>
          </p:cNvPr>
          <p:cNvSpPr/>
          <p:nvPr/>
        </p:nvSpPr>
        <p:spPr>
          <a:xfrm>
            <a:off x="8043305" y="1612818"/>
            <a:ext cx="1431235" cy="5075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37DDA94-0097-41A4-8CC5-3CF801D00F71}"/>
              </a:ext>
            </a:extLst>
          </p:cNvPr>
          <p:cNvSpPr/>
          <p:nvPr/>
        </p:nvSpPr>
        <p:spPr>
          <a:xfrm>
            <a:off x="8043305" y="2354888"/>
            <a:ext cx="1431235" cy="52877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A053C87-2FEA-440C-A884-2A57DF72DBB0}"/>
              </a:ext>
            </a:extLst>
          </p:cNvPr>
          <p:cNvSpPr/>
          <p:nvPr/>
        </p:nvSpPr>
        <p:spPr>
          <a:xfrm>
            <a:off x="8043305" y="3164883"/>
            <a:ext cx="1431235" cy="465286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245752-F2E9-487E-A075-23111D92542D}"/>
              </a:ext>
            </a:extLst>
          </p:cNvPr>
          <p:cNvSpPr/>
          <p:nvPr/>
        </p:nvSpPr>
        <p:spPr>
          <a:xfrm>
            <a:off x="8043305" y="3854793"/>
            <a:ext cx="1431235" cy="465286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2C4E93-5E24-416B-A7DB-9A6C03BF0B9B}"/>
              </a:ext>
            </a:extLst>
          </p:cNvPr>
          <p:cNvSpPr/>
          <p:nvPr/>
        </p:nvSpPr>
        <p:spPr>
          <a:xfrm>
            <a:off x="8043305" y="4554606"/>
            <a:ext cx="1431235" cy="552885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31FB819-F7FD-4A3D-8542-A79BEC974E57}"/>
              </a:ext>
            </a:extLst>
          </p:cNvPr>
          <p:cNvSpPr/>
          <p:nvPr/>
        </p:nvSpPr>
        <p:spPr>
          <a:xfrm>
            <a:off x="8043305" y="5260554"/>
            <a:ext cx="1431235" cy="52054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7043C30-263C-4022-A91E-9723F411A1BA}"/>
              </a:ext>
            </a:extLst>
          </p:cNvPr>
          <p:cNvSpPr/>
          <p:nvPr/>
        </p:nvSpPr>
        <p:spPr>
          <a:xfrm>
            <a:off x="8043305" y="5932467"/>
            <a:ext cx="1431235" cy="52053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ítulo 1"/>
          <p:cNvSpPr txBox="1">
            <a:spLocks/>
          </p:cNvSpPr>
          <p:nvPr/>
        </p:nvSpPr>
        <p:spPr>
          <a:xfrm>
            <a:off x="788565" y="0"/>
            <a:ext cx="10053606" cy="13024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s-CO" sz="3200" dirty="0" smtClean="0"/>
          </a:p>
          <a:p>
            <a:pPr algn="ctr"/>
            <a:r>
              <a:rPr lang="es-CO" sz="3800" dirty="0" smtClean="0"/>
              <a:t>L</a:t>
            </a:r>
            <a:r>
              <a:rPr lang="es-CO" sz="3800" dirty="0" smtClean="0">
                <a:solidFill>
                  <a:schemeClr val="accent5"/>
                </a:solidFill>
              </a:rPr>
              <a:t>O</a:t>
            </a:r>
            <a:r>
              <a:rPr lang="es-CO" sz="3800" dirty="0" smtClean="0"/>
              <a:t>S </a:t>
            </a:r>
            <a:r>
              <a:rPr lang="es-CO" sz="38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</a:t>
            </a:r>
            <a:r>
              <a:rPr lang="es-CO" sz="3800" dirty="0" smtClean="0"/>
              <a:t>OL</a:t>
            </a:r>
            <a:r>
              <a:rPr lang="es-CO" sz="3800" dirty="0" smtClean="0">
                <a:solidFill>
                  <a:srgbClr val="FFFF00"/>
                </a:solidFill>
              </a:rPr>
              <a:t>O</a:t>
            </a:r>
            <a:r>
              <a:rPr lang="es-CO" sz="3800" dirty="0" smtClean="0"/>
              <a:t>R</a:t>
            </a:r>
            <a:r>
              <a:rPr lang="es-CO" sz="3800" dirty="0" smtClean="0">
                <a:solidFill>
                  <a:srgbClr val="002060"/>
                </a:solidFill>
              </a:rPr>
              <a:t>E</a:t>
            </a:r>
            <a:r>
              <a:rPr lang="es-CO" sz="3800" dirty="0" smtClean="0"/>
              <a:t>S [</a:t>
            </a:r>
            <a:r>
              <a:rPr lang="es-CO" sz="3800" dirty="0" err="1" smtClean="0">
                <a:solidFill>
                  <a:schemeClr val="tx1"/>
                </a:solidFill>
              </a:rPr>
              <a:t>jide</a:t>
            </a:r>
            <a:r>
              <a:rPr lang="es-CO" sz="3800" dirty="0" smtClean="0">
                <a:solidFill>
                  <a:schemeClr val="tx1"/>
                </a:solidFill>
              </a:rPr>
              <a:t>: pintar</a:t>
            </a:r>
            <a:r>
              <a:rPr lang="es-CO" sz="3800" dirty="0" smtClean="0"/>
              <a:t>]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339533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57200" y="613954"/>
            <a:ext cx="10528663" cy="5695406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endParaRPr lang="es-ES" sz="32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En la lengua originaria Uitoto </a:t>
            </a:r>
            <a:r>
              <a:rPr lang="es-ES" sz="3200" dirty="0" err="1" smtClean="0">
                <a:solidFill>
                  <a:schemeClr val="accent5">
                    <a:lumMod val="75000"/>
                  </a:schemeClr>
                </a:solidFill>
              </a:rPr>
              <a:t>Mury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 Muyna, no existe una palabra que defina el significado de </a:t>
            </a:r>
            <a:r>
              <a:rPr lang="es-ES" sz="3200" dirty="0" smtClean="0">
                <a:solidFill>
                  <a:srgbClr val="00B0F0"/>
                </a:solidFill>
              </a:rPr>
              <a:t>c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o</a:t>
            </a:r>
            <a:r>
              <a:rPr lang="es-ES" sz="3200" dirty="0" smtClean="0">
                <a:solidFill>
                  <a:srgbClr val="92D050"/>
                </a:solidFill>
              </a:rPr>
              <a:t>l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o</a:t>
            </a:r>
            <a:r>
              <a:rPr lang="es-ES" sz="3200" dirty="0" smtClean="0">
                <a:solidFill>
                  <a:srgbClr val="FF0000"/>
                </a:solidFill>
              </a:rPr>
              <a:t>r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; por lo tanto, para designar el color a un sustantivo se supone el concepto de color, </a:t>
            </a:r>
            <a:r>
              <a:rPr lang="es-ES" sz="3200" dirty="0" err="1" smtClean="0">
                <a:solidFill>
                  <a:schemeClr val="accent5">
                    <a:lumMod val="75000"/>
                  </a:schemeClr>
                </a:solidFill>
              </a:rPr>
              <a:t>ej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s-ES" sz="3200" dirty="0" err="1" smtClean="0">
                <a:solidFill>
                  <a:schemeClr val="accent5"/>
                </a:solidFill>
              </a:rPr>
              <a:t>afengno</a:t>
            </a:r>
            <a:r>
              <a:rPr lang="es-ES" sz="3200" dirty="0" smtClean="0">
                <a:solidFill>
                  <a:schemeClr val="accent5"/>
                </a:solidFill>
              </a:rPr>
              <a:t> </a:t>
            </a:r>
            <a:r>
              <a:rPr lang="es-ES" sz="3200" dirty="0" err="1" smtClean="0">
                <a:solidFill>
                  <a:schemeClr val="accent5"/>
                </a:solidFill>
              </a:rPr>
              <a:t>anafekuiro</a:t>
            </a:r>
            <a:r>
              <a:rPr lang="es-ES" sz="3200" dirty="0" smtClean="0">
                <a:solidFill>
                  <a:schemeClr val="accent5"/>
                </a:solidFill>
              </a:rPr>
              <a:t> </a:t>
            </a:r>
            <a:r>
              <a:rPr lang="es-ES" sz="3200" dirty="0" err="1" smtClean="0">
                <a:solidFill>
                  <a:schemeClr val="accent5"/>
                </a:solidFill>
              </a:rPr>
              <a:t>gia+rede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 (</a:t>
            </a:r>
            <a:r>
              <a:rPr lang="es-ES" sz="3200" dirty="0" smtClean="0">
                <a:solidFill>
                  <a:schemeClr val="tx1"/>
                </a:solidFill>
              </a:rPr>
              <a:t>la falda de ella es </a:t>
            </a:r>
            <a:r>
              <a:rPr lang="es-ES" sz="3200" strike="sngStrike" dirty="0" smtClean="0">
                <a:solidFill>
                  <a:schemeClr val="tx1"/>
                </a:solidFill>
              </a:rPr>
              <a:t>de color</a:t>
            </a:r>
            <a:r>
              <a:rPr lang="es-ES" sz="3200" dirty="0" smtClean="0">
                <a:solidFill>
                  <a:schemeClr val="tx1"/>
                </a:solidFill>
              </a:rPr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rojo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).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Para </a:t>
            </a:r>
            <a:r>
              <a:rPr lang="es-ES" sz="3200" dirty="0">
                <a:solidFill>
                  <a:schemeClr val="accent5">
                    <a:lumMod val="75000"/>
                  </a:schemeClr>
                </a:solidFill>
              </a:rPr>
              <a:t>designar un color secundario se especifica por el grado o nivel del color: </a:t>
            </a:r>
            <a:r>
              <a:rPr lang="es-ES" sz="3200" dirty="0" err="1" smtClean="0">
                <a:solidFill>
                  <a:schemeClr val="accent5">
                    <a:lumMod val="75000"/>
                  </a:schemeClr>
                </a:solidFill>
              </a:rPr>
              <a:t>Ej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s-ES" sz="3200" dirty="0" err="1" smtClean="0">
                <a:solidFill>
                  <a:schemeClr val="accent5">
                    <a:lumMod val="75000"/>
                  </a:schemeClr>
                </a:solidFill>
              </a:rPr>
              <a:t>Due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" sz="3200" dirty="0" err="1" smtClean="0">
                <a:solidFill>
                  <a:schemeClr val="accent5">
                    <a:lumMod val="75000"/>
                  </a:schemeClr>
                </a:solidFill>
              </a:rPr>
              <a:t>jiza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" sz="3200" dirty="0" err="1" smtClean="0">
                <a:solidFill>
                  <a:schemeClr val="accent5">
                    <a:lumMod val="75000"/>
                  </a:schemeClr>
                </a:solidFill>
              </a:rPr>
              <a:t>mogorede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  (</a:t>
            </a:r>
            <a:r>
              <a:rPr lang="es-ES" sz="3200" dirty="0" smtClean="0">
                <a:solidFill>
                  <a:srgbClr val="00B0F0"/>
                </a:solidFill>
              </a:rPr>
              <a:t>azulado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). </a:t>
            </a:r>
            <a:r>
              <a:rPr lang="es-ES" sz="3200" dirty="0" err="1" smtClean="0">
                <a:solidFill>
                  <a:schemeClr val="accent5">
                    <a:lumMod val="75000"/>
                  </a:schemeClr>
                </a:solidFill>
              </a:rPr>
              <a:t>Jabo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" sz="3200" dirty="0" err="1" smtClean="0">
                <a:solidFill>
                  <a:schemeClr val="accent5">
                    <a:lumMod val="75000"/>
                  </a:schemeClr>
                </a:solidFill>
              </a:rPr>
              <a:t>mokorede</a:t>
            </a:r>
            <a:r>
              <a:rPr lang="es-E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es-ES" sz="3200" dirty="0" smtClean="0">
                <a:solidFill>
                  <a:schemeClr val="accent1"/>
                </a:solidFill>
              </a:rPr>
              <a:t>verdoso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) </a:t>
            </a:r>
            <a:r>
              <a:rPr lang="es-ES" sz="3200" dirty="0" err="1" smtClean="0">
                <a:solidFill>
                  <a:schemeClr val="accent5">
                    <a:lumMod val="75000"/>
                  </a:schemeClr>
                </a:solidFill>
              </a:rPr>
              <a:t>Ayo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" sz="3200" dirty="0" err="1">
                <a:solidFill>
                  <a:srgbClr val="FF0000"/>
                </a:solidFill>
              </a:rPr>
              <a:t>j</a:t>
            </a:r>
            <a:r>
              <a:rPr lang="es-ES" sz="3200" dirty="0" err="1" smtClean="0">
                <a:solidFill>
                  <a:srgbClr val="FF0000"/>
                </a:solidFill>
              </a:rPr>
              <a:t>ia+rede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 (muy rojo)</a:t>
            </a:r>
            <a:endParaRPr lang="es-ES" sz="32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US" sz="11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818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5874"/>
          </a:xfrm>
        </p:spPr>
        <p:txBody>
          <a:bodyPr/>
          <a:lstStyle/>
          <a:p>
            <a:pPr algn="ctr"/>
            <a:r>
              <a:rPr lang="es-ES" dirty="0" smtClean="0"/>
              <a:t>VOCABULARIO REFERENCIAL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9182" y="1476103"/>
            <a:ext cx="11955439" cy="5381897"/>
          </a:xfrm>
        </p:spPr>
        <p:txBody>
          <a:bodyPr>
            <a:normAutofit lnSpcReduction="10000"/>
          </a:bodyPr>
          <a:lstStyle/>
          <a:p>
            <a:endParaRPr lang="es-ES" sz="2800" dirty="0" smtClean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s-ES" sz="2800" dirty="0" smtClean="0">
                <a:solidFill>
                  <a:srgbClr val="FF0000"/>
                </a:solidFill>
              </a:rPr>
              <a:t>JIDE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: Pintar                     </a:t>
            </a:r>
            <a:r>
              <a:rPr lang="es-ES" sz="2800" dirty="0" smtClean="0">
                <a:solidFill>
                  <a:srgbClr val="FF0000"/>
                </a:solidFill>
              </a:rPr>
              <a:t>MONA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: Cielo                  </a:t>
            </a:r>
            <a:r>
              <a:rPr lang="es-ES" sz="2800" dirty="0" smtClean="0">
                <a:solidFill>
                  <a:srgbClr val="FF0000"/>
                </a:solidFill>
              </a:rPr>
              <a:t>JOFO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: Casa</a:t>
            </a:r>
          </a:p>
          <a:p>
            <a:r>
              <a:rPr lang="es-ES" sz="2800" dirty="0" smtClean="0">
                <a:solidFill>
                  <a:srgbClr val="FF0000"/>
                </a:solidFill>
              </a:rPr>
              <a:t>AMENA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: árbol                  </a:t>
            </a:r>
            <a:r>
              <a:rPr lang="es-ES" sz="2800" dirty="0" smtClean="0">
                <a:solidFill>
                  <a:srgbClr val="FF0000"/>
                </a:solidFill>
              </a:rPr>
              <a:t>IYE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: Río                          </a:t>
            </a:r>
            <a:r>
              <a:rPr lang="es-ES" sz="2800" dirty="0" smtClean="0">
                <a:solidFill>
                  <a:srgbClr val="FF0000"/>
                </a:solidFill>
              </a:rPr>
              <a:t>RABENIKO</a:t>
            </a:r>
            <a:r>
              <a:rPr lang="es-ES" sz="2800" dirty="0">
                <a:solidFill>
                  <a:schemeClr val="accent5">
                    <a:lumMod val="75000"/>
                  </a:schemeClr>
                </a:solidFill>
              </a:rPr>
              <a:t>: Cuaderno    </a:t>
            </a:r>
            <a:endParaRPr lang="es-ES" sz="2800" dirty="0" smtClean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s-ES" sz="2800" dirty="0" smtClean="0">
                <a:solidFill>
                  <a:srgbClr val="FF0000"/>
                </a:solidFill>
              </a:rPr>
              <a:t>JAZIK+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: Selva, monte      </a:t>
            </a:r>
            <a:r>
              <a:rPr lang="es-ES" sz="2800" dirty="0">
                <a:solidFill>
                  <a:srgbClr val="FF0000"/>
                </a:solidFill>
              </a:rPr>
              <a:t>Ó</a:t>
            </a:r>
            <a:r>
              <a:rPr lang="es-ES" sz="2800" dirty="0" smtClean="0">
                <a:solidFill>
                  <a:srgbClr val="FF0000"/>
                </a:solidFill>
              </a:rPr>
              <a:t>FOKOÑO</a:t>
            </a:r>
            <a:r>
              <a:rPr lang="es-ES" sz="2800" dirty="0">
                <a:solidFill>
                  <a:schemeClr val="accent5">
                    <a:lumMod val="75000"/>
                  </a:schemeClr>
                </a:solidFill>
              </a:rPr>
              <a:t>: Pajarito 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        </a:t>
            </a:r>
            <a:r>
              <a:rPr lang="es-ES" sz="2800" dirty="0" smtClean="0">
                <a:solidFill>
                  <a:srgbClr val="FF0000"/>
                </a:solidFill>
              </a:rPr>
              <a:t>KUERÁBANI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: Mesa</a:t>
            </a:r>
          </a:p>
          <a:p>
            <a:r>
              <a:rPr lang="es-ES" sz="2800" dirty="0" smtClean="0">
                <a:solidFill>
                  <a:srgbClr val="FF0000"/>
                </a:solidFill>
              </a:rPr>
              <a:t>+NIKUIRO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: Vestido           </a:t>
            </a:r>
            <a:r>
              <a:rPr lang="es-ES" sz="2800" dirty="0" smtClean="0">
                <a:solidFill>
                  <a:srgbClr val="FF0000"/>
                </a:solidFill>
              </a:rPr>
              <a:t>FIZIDO</a:t>
            </a:r>
            <a:r>
              <a:rPr lang="es-ES" sz="2800" dirty="0">
                <a:solidFill>
                  <a:schemeClr val="accent5">
                    <a:lumMod val="75000"/>
                  </a:schemeClr>
                </a:solidFill>
              </a:rPr>
              <a:t>: Colibrí 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               </a:t>
            </a:r>
            <a:r>
              <a:rPr lang="es-ES" sz="2800" dirty="0" smtClean="0">
                <a:solidFill>
                  <a:srgbClr val="FF0000"/>
                </a:solidFill>
              </a:rPr>
              <a:t>RA+RANO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: Silla</a:t>
            </a:r>
          </a:p>
          <a:p>
            <a:r>
              <a:rPr lang="es-ES" sz="2800" dirty="0" smtClean="0">
                <a:solidFill>
                  <a:srgbClr val="FF0000"/>
                </a:solidFill>
              </a:rPr>
              <a:t>KA+FÓFEKUIRO</a:t>
            </a:r>
            <a:r>
              <a:rPr lang="es-ES" sz="2800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Camisa   </a:t>
            </a:r>
            <a:r>
              <a:rPr lang="es-ES" sz="2800" dirty="0" smtClean="0">
                <a:solidFill>
                  <a:srgbClr val="FF0000"/>
                </a:solidFill>
              </a:rPr>
              <a:t>T+T+R+NGO</a:t>
            </a:r>
            <a:r>
              <a:rPr lang="es-ES" sz="2800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Mariposa     </a:t>
            </a:r>
            <a:r>
              <a:rPr lang="es-ES" sz="2800" dirty="0" smtClean="0">
                <a:solidFill>
                  <a:srgbClr val="FF0000"/>
                </a:solidFill>
              </a:rPr>
              <a:t>B+IRANO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: Cama</a:t>
            </a:r>
          </a:p>
          <a:p>
            <a:r>
              <a:rPr lang="es-ES" sz="2800" dirty="0" smtClean="0">
                <a:solidFill>
                  <a:srgbClr val="FF0000"/>
                </a:solidFill>
              </a:rPr>
              <a:t>ANAFEKUIRO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: Pantalón    </a:t>
            </a:r>
            <a:r>
              <a:rPr lang="es-ES" sz="2800" dirty="0" smtClean="0">
                <a:solidFill>
                  <a:srgbClr val="FF0000"/>
                </a:solidFill>
              </a:rPr>
              <a:t>RABE</a:t>
            </a:r>
            <a:r>
              <a:rPr lang="es-ES" sz="2800" dirty="0">
                <a:solidFill>
                  <a:schemeClr val="accent5">
                    <a:lumMod val="75000"/>
                  </a:schemeClr>
                </a:solidFill>
              </a:rPr>
              <a:t>: hoja 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                    </a:t>
            </a:r>
            <a:r>
              <a:rPr lang="es-ES" sz="2800" dirty="0" smtClean="0">
                <a:solidFill>
                  <a:srgbClr val="FF0000"/>
                </a:solidFill>
              </a:rPr>
              <a:t>JABO</a:t>
            </a:r>
            <a:r>
              <a:rPr lang="es-ES" sz="2800" dirty="0">
                <a:solidFill>
                  <a:schemeClr val="accent5">
                    <a:lumMod val="75000"/>
                  </a:schemeClr>
                </a:solidFill>
              </a:rPr>
              <a:t>: Muy poco</a:t>
            </a:r>
            <a:endParaRPr lang="es-ES" sz="2800" dirty="0" smtClean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s-ES" sz="2800" dirty="0" smtClean="0">
                <a:solidFill>
                  <a:srgbClr val="FF0000"/>
                </a:solidFill>
              </a:rPr>
              <a:t>+DAKUIRO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: Zapato           </a:t>
            </a:r>
            <a:r>
              <a:rPr lang="es-ES" sz="2800" dirty="0" smtClean="0">
                <a:solidFill>
                  <a:srgbClr val="FF0000"/>
                </a:solidFill>
              </a:rPr>
              <a:t>+</a:t>
            </a:r>
            <a:r>
              <a:rPr lang="es-ES" sz="2800" dirty="0">
                <a:solidFill>
                  <a:srgbClr val="FF0000"/>
                </a:solidFill>
              </a:rPr>
              <a:t>FOT+RA+: </a:t>
            </a:r>
            <a:r>
              <a:rPr lang="es-ES" sz="2800" dirty="0">
                <a:solidFill>
                  <a:schemeClr val="accent5">
                    <a:lumMod val="75000"/>
                  </a:schemeClr>
                </a:solidFill>
              </a:rPr>
              <a:t>Cabello      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   </a:t>
            </a:r>
            <a:r>
              <a:rPr lang="es-ES" sz="2800" dirty="0" smtClean="0">
                <a:solidFill>
                  <a:srgbClr val="FF0000"/>
                </a:solidFill>
              </a:rPr>
              <a:t>DUE </a:t>
            </a:r>
            <a:r>
              <a:rPr lang="es-ES" sz="2800" dirty="0">
                <a:solidFill>
                  <a:srgbClr val="FF0000"/>
                </a:solidFill>
              </a:rPr>
              <a:t>JIZA</a:t>
            </a:r>
            <a:r>
              <a:rPr lang="es-ES" sz="2800" dirty="0">
                <a:solidFill>
                  <a:schemeClr val="accent5">
                    <a:lumMod val="75000"/>
                  </a:schemeClr>
                </a:solidFill>
              </a:rPr>
              <a:t>: Poquito </a:t>
            </a:r>
            <a:endParaRPr lang="es-ES" sz="2800" dirty="0" smtClean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s-ES" sz="2800" dirty="0" smtClean="0">
                <a:solidFill>
                  <a:srgbClr val="FF0000"/>
                </a:solidFill>
              </a:rPr>
              <a:t>NÁKUIRO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: falda                </a:t>
            </a:r>
            <a:r>
              <a:rPr lang="es-ES" sz="2800" dirty="0" smtClean="0">
                <a:solidFill>
                  <a:srgbClr val="FF0000"/>
                </a:solidFill>
              </a:rPr>
              <a:t>IEMO</a:t>
            </a:r>
            <a:r>
              <a:rPr lang="es-ES" sz="2800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y                          </a:t>
            </a:r>
            <a:r>
              <a:rPr lang="es-ES" sz="2800" dirty="0" smtClean="0">
                <a:solidFill>
                  <a:srgbClr val="FF0000"/>
                </a:solidFill>
              </a:rPr>
              <a:t>UA </a:t>
            </a:r>
            <a:r>
              <a:rPr lang="es-ES" sz="2800" dirty="0">
                <a:solidFill>
                  <a:srgbClr val="FF0000"/>
                </a:solidFill>
              </a:rPr>
              <a:t>AYO</a:t>
            </a:r>
            <a:r>
              <a:rPr lang="es-ES" sz="2800" dirty="0">
                <a:solidFill>
                  <a:schemeClr val="accent5">
                    <a:lumMod val="75000"/>
                  </a:schemeClr>
                </a:solidFill>
              </a:rPr>
              <a:t>: Mucho </a:t>
            </a:r>
            <a:r>
              <a:rPr lang="es-ES" sz="2800" dirty="0" smtClean="0">
                <a:solidFill>
                  <a:srgbClr val="FF0000"/>
                </a:solidFill>
              </a:rPr>
              <a:t>                      </a:t>
            </a:r>
            <a:endParaRPr lang="es-ES" sz="2800" dirty="0" smtClean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s-ES" sz="2800" dirty="0" smtClean="0">
                <a:solidFill>
                  <a:srgbClr val="FF0000"/>
                </a:solidFill>
              </a:rPr>
              <a:t>AFE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: Ese, eso, aquel/la     </a:t>
            </a:r>
            <a:r>
              <a:rPr lang="es-ES" sz="2800" dirty="0" smtClean="0">
                <a:solidFill>
                  <a:srgbClr val="FF0000"/>
                </a:solidFill>
              </a:rPr>
              <a:t>NAZE</a:t>
            </a:r>
            <a:r>
              <a:rPr lang="es-ES" sz="2800" dirty="0" smtClean="0">
                <a:solidFill>
                  <a:schemeClr val="accent5">
                    <a:lumMod val="75000"/>
                  </a:schemeClr>
                </a:solidFill>
              </a:rPr>
              <a:t>: Puerta  </a:t>
            </a:r>
          </a:p>
          <a:p>
            <a:endParaRPr lang="es-ES" sz="28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99181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7314"/>
          </a:xfrm>
        </p:spPr>
        <p:txBody>
          <a:bodyPr/>
          <a:lstStyle/>
          <a:p>
            <a:pPr algn="ctr"/>
            <a:r>
              <a:rPr lang="es-ES" dirty="0" smtClean="0"/>
              <a:t>	</a:t>
            </a:r>
            <a:r>
              <a:rPr lang="es-ES" dirty="0" smtClean="0">
                <a:solidFill>
                  <a:srgbClr val="002060"/>
                </a:solidFill>
              </a:rPr>
              <a:t>DIALOGO SOBRE LOS COLORES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82880" y="1319349"/>
            <a:ext cx="11821886" cy="5264331"/>
          </a:xfrm>
        </p:spPr>
        <p:txBody>
          <a:bodyPr>
            <a:normAutofit fontScale="25000" lnSpcReduction="20000"/>
          </a:bodyPr>
          <a:lstStyle/>
          <a:p>
            <a:pPr algn="just"/>
            <a:endParaRPr lang="es-ES" sz="9800" dirty="0" smtClean="0"/>
          </a:p>
          <a:p>
            <a:pPr algn="just"/>
            <a:r>
              <a:rPr lang="es-ES" sz="11200" dirty="0" err="1" smtClean="0"/>
              <a:t>Kue</a:t>
            </a:r>
            <a:r>
              <a:rPr lang="es-ES" sz="11200" dirty="0" smtClean="0"/>
              <a:t>  </a:t>
            </a:r>
            <a:r>
              <a:rPr lang="es-ES" sz="11200" dirty="0"/>
              <a:t>+</a:t>
            </a:r>
            <a:r>
              <a:rPr lang="es-ES" sz="11200" dirty="0" err="1"/>
              <a:t>nikuiro</a:t>
            </a:r>
            <a:r>
              <a:rPr lang="es-ES" sz="11200" dirty="0"/>
              <a:t> </a:t>
            </a:r>
            <a:r>
              <a:rPr lang="es-ES" sz="11200" dirty="0" err="1">
                <a:solidFill>
                  <a:srgbClr val="00B050"/>
                </a:solidFill>
              </a:rPr>
              <a:t>mokorede</a:t>
            </a:r>
            <a:r>
              <a:rPr lang="es-ES" sz="11200" dirty="0"/>
              <a:t> </a:t>
            </a:r>
            <a:r>
              <a:rPr lang="es-ES" sz="11200" dirty="0">
                <a:solidFill>
                  <a:schemeClr val="accent5">
                    <a:lumMod val="75000"/>
                  </a:schemeClr>
                </a:solidFill>
              </a:rPr>
              <a:t>[Mi vestido es de color verde]</a:t>
            </a:r>
          </a:p>
          <a:p>
            <a:pPr algn="just"/>
            <a:r>
              <a:rPr lang="es-ES" sz="11200"/>
              <a:t>O </a:t>
            </a:r>
            <a:r>
              <a:rPr lang="es-ES" sz="11200" dirty="0" err="1"/>
              <a:t>+</a:t>
            </a:r>
            <a:r>
              <a:rPr lang="es-ES" sz="11200" smtClean="0"/>
              <a:t>dago</a:t>
            </a:r>
            <a:r>
              <a:rPr lang="es-ES" sz="11200" dirty="0"/>
              <a:t>+ </a:t>
            </a:r>
            <a:r>
              <a:rPr lang="es-ES" sz="11200" dirty="0" err="1">
                <a:solidFill>
                  <a:srgbClr val="FF0000"/>
                </a:solidFill>
              </a:rPr>
              <a:t>jia+rede</a:t>
            </a:r>
            <a:r>
              <a:rPr lang="es-ES" sz="11200" dirty="0"/>
              <a:t> </a:t>
            </a:r>
            <a:r>
              <a:rPr lang="es-ES" sz="11200" dirty="0">
                <a:solidFill>
                  <a:schemeClr val="accent5">
                    <a:lumMod val="75000"/>
                  </a:schemeClr>
                </a:solidFill>
              </a:rPr>
              <a:t>[su zapato es de color rojo]</a:t>
            </a:r>
          </a:p>
          <a:p>
            <a:pPr algn="just"/>
            <a:r>
              <a:rPr lang="es-ES" sz="11200" dirty="0" err="1"/>
              <a:t>Ka+mak</a:t>
            </a:r>
            <a:r>
              <a:rPr lang="es-ES" sz="11200" dirty="0"/>
              <a:t>+ +</a:t>
            </a:r>
            <a:r>
              <a:rPr lang="es-ES" sz="11200" dirty="0" err="1"/>
              <a:t>fot+a</a:t>
            </a:r>
            <a:r>
              <a:rPr lang="es-ES" sz="11200" dirty="0"/>
              <a:t>+ </a:t>
            </a:r>
            <a:r>
              <a:rPr lang="es-ES" sz="11200" dirty="0" err="1">
                <a:solidFill>
                  <a:schemeClr val="tx1"/>
                </a:solidFill>
              </a:rPr>
              <a:t>jit+rede</a:t>
            </a:r>
            <a:r>
              <a:rPr lang="es-ES" sz="11200" dirty="0"/>
              <a:t> </a:t>
            </a:r>
            <a:r>
              <a:rPr lang="es-ES" sz="11200" dirty="0">
                <a:solidFill>
                  <a:schemeClr val="accent5">
                    <a:lumMod val="75000"/>
                  </a:schemeClr>
                </a:solidFill>
              </a:rPr>
              <a:t>[Nuestro cabello es de color negro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]</a:t>
            </a:r>
          </a:p>
          <a:p>
            <a:pPr algn="just"/>
            <a:r>
              <a:rPr lang="es-ES" sz="11200" dirty="0" err="1" smtClean="0">
                <a:solidFill>
                  <a:schemeClr val="accent5">
                    <a:lumMod val="75000"/>
                  </a:schemeClr>
                </a:solidFill>
              </a:rPr>
              <a:t>Afe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" sz="11200" dirty="0" err="1" smtClean="0">
                <a:solidFill>
                  <a:schemeClr val="accent5">
                    <a:lumMod val="75000"/>
                  </a:schemeClr>
                </a:solidFill>
              </a:rPr>
              <a:t>rabe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" sz="11200" dirty="0" err="1" smtClean="0">
                <a:solidFill>
                  <a:schemeClr val="accent5">
                    <a:lumMod val="75000"/>
                  </a:schemeClr>
                </a:solidFill>
              </a:rPr>
              <a:t>ucerede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 [Aquel papel es de color blanco]</a:t>
            </a:r>
          </a:p>
          <a:p>
            <a:pPr algn="just"/>
            <a:r>
              <a:rPr lang="es-ES" sz="11200" dirty="0" err="1" smtClean="0">
                <a:solidFill>
                  <a:schemeClr val="accent5">
                    <a:lumMod val="75000"/>
                  </a:schemeClr>
                </a:solidFill>
              </a:rPr>
              <a:t>Afe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 amena </a:t>
            </a:r>
            <a:r>
              <a:rPr lang="es-ES" sz="11200" dirty="0" err="1" smtClean="0">
                <a:solidFill>
                  <a:schemeClr val="accent5">
                    <a:lumMod val="75000"/>
                  </a:schemeClr>
                </a:solidFill>
              </a:rPr>
              <a:t>ibe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" sz="11200" dirty="0" err="1" smtClean="0">
                <a:solidFill>
                  <a:srgbClr val="00B050"/>
                </a:solidFill>
              </a:rPr>
              <a:t>mokorede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 [Ese árbol tiene las hojas verde]</a:t>
            </a:r>
          </a:p>
          <a:p>
            <a:pPr algn="just"/>
            <a:r>
              <a:rPr lang="es-ES" sz="11200" dirty="0" err="1" smtClean="0">
                <a:solidFill>
                  <a:schemeClr val="accent5">
                    <a:lumMod val="75000"/>
                  </a:schemeClr>
                </a:solidFill>
              </a:rPr>
              <a:t>Afe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" sz="11200" dirty="0" err="1" smtClean="0">
                <a:solidFill>
                  <a:schemeClr val="accent5">
                    <a:lumMod val="75000"/>
                  </a:schemeClr>
                </a:solidFill>
              </a:rPr>
              <a:t>nemoz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+ </a:t>
            </a:r>
            <a:r>
              <a:rPr lang="es-ES" sz="11200" dirty="0" err="1" smtClean="0">
                <a:solidFill>
                  <a:srgbClr val="FFFF00"/>
                </a:solidFill>
              </a:rPr>
              <a:t>borarede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 [ la fruta de </a:t>
            </a:r>
            <a:r>
              <a:rPr lang="es-ES" sz="11200" dirty="0" err="1" smtClean="0">
                <a:solidFill>
                  <a:schemeClr val="accent5">
                    <a:lumMod val="75000"/>
                  </a:schemeClr>
                </a:solidFill>
              </a:rPr>
              <a:t>Umary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 es de color Amarillo]</a:t>
            </a:r>
          </a:p>
          <a:p>
            <a:pPr algn="just"/>
            <a:r>
              <a:rPr lang="es-ES" sz="11200" dirty="0" err="1" smtClean="0">
                <a:solidFill>
                  <a:schemeClr val="accent5">
                    <a:lumMod val="75000"/>
                  </a:schemeClr>
                </a:solidFill>
              </a:rPr>
              <a:t>Afegno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" sz="11200" dirty="0" err="1" smtClean="0">
                <a:solidFill>
                  <a:schemeClr val="accent5">
                    <a:lumMod val="75000"/>
                  </a:schemeClr>
                </a:solidFill>
              </a:rPr>
              <a:t>d+e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" sz="11200" dirty="0" err="1" smtClean="0">
                <a:solidFill>
                  <a:srgbClr val="FF0000"/>
                </a:solidFill>
              </a:rPr>
              <a:t>jia+rede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 [La sangre de ella es de color roja]</a:t>
            </a:r>
          </a:p>
          <a:p>
            <a:pPr algn="just"/>
            <a:r>
              <a:rPr lang="es-ES" sz="11200" dirty="0" err="1" smtClean="0">
                <a:solidFill>
                  <a:schemeClr val="accent5">
                    <a:lumMod val="75000"/>
                  </a:schemeClr>
                </a:solidFill>
              </a:rPr>
              <a:t>Kue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" sz="11200" dirty="0" err="1" smtClean="0">
                <a:solidFill>
                  <a:schemeClr val="accent5">
                    <a:lumMod val="75000"/>
                  </a:schemeClr>
                </a:solidFill>
              </a:rPr>
              <a:t>moo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s-ES" sz="11200" dirty="0" err="1" smtClean="0">
                <a:solidFill>
                  <a:schemeClr val="accent5">
                    <a:lumMod val="75000"/>
                  </a:schemeClr>
                </a:solidFill>
              </a:rPr>
              <a:t>j+ko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" sz="11200" dirty="0" err="1" smtClean="0">
                <a:solidFill>
                  <a:schemeClr val="tx1"/>
                </a:solidFill>
              </a:rPr>
              <a:t>jit+rede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 [Él</a:t>
            </a:r>
            <a:r>
              <a:rPr lang="es-ES" sz="11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perro de mi papá, es de color negro]</a:t>
            </a:r>
          </a:p>
          <a:p>
            <a:pPr algn="just"/>
            <a:r>
              <a:rPr lang="es-ES" sz="11200" dirty="0" smtClean="0">
                <a:solidFill>
                  <a:schemeClr val="accent5">
                    <a:lumMod val="75000"/>
                  </a:schemeClr>
                </a:solidFill>
              </a:rPr>
              <a:t>NOTA: Elaboración de un crucigrama a partir de los COLORES.</a:t>
            </a:r>
          </a:p>
          <a:p>
            <a:pPr marL="0" indent="0" algn="just">
              <a:buNone/>
            </a:pPr>
            <a:endParaRPr lang="es-ES" sz="2400" dirty="0">
              <a:solidFill>
                <a:schemeClr val="accent5">
                  <a:lumMod val="75000"/>
                </a:schemeClr>
              </a:solidFill>
            </a:endParaRPr>
          </a:p>
          <a:p>
            <a:pPr algn="just"/>
            <a:endParaRPr lang="es-E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138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9566"/>
          </a:xfrm>
        </p:spPr>
        <p:txBody>
          <a:bodyPr/>
          <a:lstStyle/>
          <a:p>
            <a:pPr algn="ctr"/>
            <a:r>
              <a:rPr lang="es-ES" dirty="0"/>
              <a:t>E</a:t>
            </a:r>
            <a:r>
              <a:rPr lang="es-ES" dirty="0" smtClean="0"/>
              <a:t>jercicio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0629" y="1632857"/>
            <a:ext cx="11900262" cy="4833257"/>
          </a:xfrm>
        </p:spPr>
        <p:txBody>
          <a:bodyPr>
            <a:normAutofit/>
          </a:bodyPr>
          <a:lstStyle/>
          <a:p>
            <a:r>
              <a:rPr lang="es-ES" sz="3200" dirty="0" smtClean="0"/>
              <a:t>CONSTRUIR UNA ORACIÓN TENIENDO EN CUENTA UN PRONOMBRE(Masculino-Femenino) más un SUSTANTIVO(Vocabulario Referencial) E IDENTIFICANDO UN DETERMINADO </a:t>
            </a:r>
            <a:r>
              <a:rPr lang="es-ES" sz="3200" dirty="0" smtClean="0">
                <a:solidFill>
                  <a:srgbClr val="00B0F0"/>
                </a:solidFill>
              </a:rPr>
              <a:t>C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O</a:t>
            </a:r>
            <a:r>
              <a:rPr lang="es-ES" sz="3200" dirty="0" smtClean="0">
                <a:solidFill>
                  <a:srgbClr val="92D050"/>
                </a:solidFill>
              </a:rPr>
              <a:t>L</a:t>
            </a:r>
            <a:r>
              <a:rPr lang="es-ES" sz="3200" dirty="0" smtClean="0">
                <a:solidFill>
                  <a:schemeClr val="accent5">
                    <a:lumMod val="75000"/>
                  </a:schemeClr>
                </a:solidFill>
              </a:rPr>
              <a:t>O</a:t>
            </a:r>
            <a:r>
              <a:rPr lang="es-ES" sz="3200" dirty="0" smtClean="0">
                <a:solidFill>
                  <a:srgbClr val="FF0000"/>
                </a:solidFill>
              </a:rPr>
              <a:t>R.</a:t>
            </a:r>
          </a:p>
          <a:p>
            <a:pPr marL="0" indent="0">
              <a:buNone/>
            </a:pPr>
            <a:endParaRPr lang="es-ES" sz="32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S" sz="3200" dirty="0" smtClean="0">
                <a:solidFill>
                  <a:srgbClr val="FF0000"/>
                </a:solidFill>
              </a:rPr>
              <a:t>Ejemplo:      AFEM+E     KA+FOFEKUIRO   </a:t>
            </a:r>
            <a:r>
              <a:rPr lang="es-ES" sz="3200" dirty="0" smtClean="0">
                <a:solidFill>
                  <a:srgbClr val="FFFF00"/>
                </a:solidFill>
              </a:rPr>
              <a:t>BORAREDE</a:t>
            </a:r>
          </a:p>
          <a:p>
            <a:pPr marL="0" indent="0">
              <a:buNone/>
            </a:pPr>
            <a:r>
              <a:rPr lang="es-ES" sz="3200" dirty="0">
                <a:solidFill>
                  <a:srgbClr val="FF0000"/>
                </a:solidFill>
              </a:rPr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               (pronombre) (sustantivo)       (color)</a:t>
            </a:r>
          </a:p>
          <a:p>
            <a:pPr marL="0" indent="0">
              <a:buNone/>
            </a:pPr>
            <a:r>
              <a:rPr lang="es-ES" sz="3200" dirty="0">
                <a:solidFill>
                  <a:srgbClr val="FF0000"/>
                </a:solidFill>
              </a:rPr>
              <a:t> </a:t>
            </a:r>
            <a:r>
              <a:rPr lang="es-ES" sz="3200" dirty="0" smtClean="0">
                <a:solidFill>
                  <a:srgbClr val="FF0000"/>
                </a:solidFill>
              </a:rPr>
              <a:t>                </a:t>
            </a:r>
            <a:r>
              <a:rPr lang="es-ES" sz="3200" dirty="0" smtClean="0">
                <a:solidFill>
                  <a:srgbClr val="0070C0"/>
                </a:solidFill>
              </a:rPr>
              <a:t>Él tiene la camisa de color amarillo</a:t>
            </a:r>
            <a:endParaRPr lang="en-US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34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/>
          <p:cNvSpPr>
            <a:spLocks noGrp="1"/>
          </p:cNvSpPr>
          <p:nvPr>
            <p:ph idx="1"/>
          </p:nvPr>
        </p:nvSpPr>
        <p:spPr>
          <a:xfrm>
            <a:off x="1110342" y="1112363"/>
            <a:ext cx="8163659" cy="4928999"/>
          </a:xfr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s-CO" dirty="0" smtClean="0"/>
          </a:p>
          <a:p>
            <a:pPr marL="0" indent="0" algn="ctr">
              <a:buNone/>
            </a:pPr>
            <a:endParaRPr lang="es-CO" dirty="0"/>
          </a:p>
          <a:p>
            <a:pPr marL="0" indent="0" algn="ctr">
              <a:buNone/>
            </a:pPr>
            <a:r>
              <a:rPr lang="es-CO" sz="5400" dirty="0" smtClean="0"/>
              <a:t>F+gora</a:t>
            </a:r>
          </a:p>
          <a:p>
            <a:pPr marL="0" indent="0" algn="ctr">
              <a:buNone/>
            </a:pPr>
            <a:r>
              <a:rPr lang="es-CO" sz="2800" dirty="0">
                <a:solidFill>
                  <a:schemeClr val="tx1"/>
                </a:solidFill>
              </a:rPr>
              <a:t>[ Muchas gracias</a:t>
            </a:r>
            <a:r>
              <a:rPr lang="es-CO" sz="2800" dirty="0" smtClean="0">
                <a:solidFill>
                  <a:schemeClr val="tx1"/>
                </a:solidFill>
              </a:rPr>
              <a:t>]</a:t>
            </a:r>
            <a:endParaRPr lang="es-CO" sz="2800" dirty="0" smtClean="0"/>
          </a:p>
          <a:p>
            <a:pPr marL="0" indent="0" algn="ctr">
              <a:buNone/>
            </a:pPr>
            <a:r>
              <a:rPr lang="es-CO" sz="5400" dirty="0" smtClean="0">
                <a:solidFill>
                  <a:schemeClr val="accent5"/>
                </a:solidFill>
              </a:rPr>
              <a:t>Jaka Ñuera</a:t>
            </a:r>
          </a:p>
          <a:p>
            <a:pPr marL="0" indent="0" algn="ctr">
              <a:buNone/>
            </a:pPr>
            <a:r>
              <a:rPr lang="es-CO" sz="2800" dirty="0" smtClean="0">
                <a:solidFill>
                  <a:schemeClr val="accent5"/>
                </a:solidFill>
              </a:rPr>
              <a:t>[Esta bien]</a:t>
            </a:r>
          </a:p>
        </p:txBody>
      </p:sp>
    </p:spTree>
    <p:extLst>
      <p:ext uri="{BB962C8B-B14F-4D97-AF65-F5344CB8AC3E}">
        <p14:creationId xmlns:p14="http://schemas.microsoft.com/office/powerpoint/2010/main" val="305472358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326</TotalTime>
  <Words>388</Words>
  <Application>Microsoft Office PowerPoint</Application>
  <PresentationFormat>Panorámica</PresentationFormat>
  <Paragraphs>50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Trebuchet MS</vt:lpstr>
      <vt:lpstr>Wingdings</vt:lpstr>
      <vt:lpstr>Wingdings 3</vt:lpstr>
      <vt:lpstr>Faceta</vt:lpstr>
      <vt:lpstr>Presentación de PowerPoint</vt:lpstr>
      <vt:lpstr>Presentación de PowerPoint</vt:lpstr>
      <vt:lpstr>Presentación de PowerPoint</vt:lpstr>
      <vt:lpstr>VOCABULARIO REFERENCIAL</vt:lpstr>
      <vt:lpstr> DIALOGO SOBRE LOS COLORES</vt:lpstr>
      <vt:lpstr>Ejercicio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NORFARMAR</dc:creator>
  <cp:lastModifiedBy>NORFARMAR</cp:lastModifiedBy>
  <cp:revision>28</cp:revision>
  <dcterms:created xsi:type="dcterms:W3CDTF">2025-08-19T19:48:18Z</dcterms:created>
  <dcterms:modified xsi:type="dcterms:W3CDTF">2026-04-17T21:18:48Z</dcterms:modified>
</cp:coreProperties>
</file>