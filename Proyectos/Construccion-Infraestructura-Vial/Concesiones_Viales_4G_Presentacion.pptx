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2D5ABB26-0587-4C30-8999-92F81FD0307C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4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4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329184"/>
            <a:ext cx="11423599" cy="6199632"/>
          </a:xfrm>
          <a:prstGeom prst="rect">
            <a:avLst/>
          </a:prstGeom>
          <a:noFill/>
          <a:ln w="9525">
            <a:solidFill>
              <a:srgbClr val="4650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4632" y="429768"/>
            <a:ext cx="11222431" cy="5998464"/>
          </a:xfrm>
          <a:prstGeom prst="rect">
            <a:avLst/>
          </a:prstGeom>
          <a:noFill/>
          <a:ln w="6350">
            <a:solidFill>
              <a:srgbClr val="363F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escud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047" y="713232"/>
            <a:ext cx="1368857" cy="17556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2651760"/>
            <a:ext cx="99971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420" cap="all">
                <a:solidFill>
                  <a:srgbClr val="B9A98B"/>
                </a:solidFill>
                <a:latin typeface="Calibri"/>
                <a:ea typeface="Calibri"/>
                <a:cs typeface="Calibri"/>
              </a:rPr>
              <a:t>Universidad Nacional de Colombia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35727.5" y="3035808"/>
            <a:ext cx="1920240.0" cy="0"/>
          </a:xfrm>
          <a:prstGeom prst="line">
            <a:avLst/>
          </a:prstGeom>
          <a:ln w="12700">
            <a:solidFill>
              <a:srgbClr val="8C7A5B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914400" y="3218688"/>
            <a:ext cx="1036289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100" b="0" i="0">
                <a:solidFill>
                  <a:srgbClr val="EDE7DB"/>
                </a:solidFill>
                <a:latin typeface="Georgia"/>
                <a:ea typeface="Georgia"/>
                <a:cs typeface="Georgia"/>
              </a:rPr>
              <a:t>Concesiones Viales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100" b="0" i="1">
                <a:solidFill>
                  <a:srgbClr val="EDE7DB"/>
                </a:solidFill>
                <a:latin typeface="Georgia"/>
                <a:ea typeface="Georgia"/>
                <a:cs typeface="Georgia"/>
              </a:rPr>
              <a:t>Cuarta Generación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90288"/>
            <a:ext cx="103628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9EA7B2"/>
                </a:solidFill>
                <a:latin typeface="Calibri"/>
                <a:ea typeface="Calibri"/>
                <a:cs typeface="Calibri"/>
              </a:rPr>
              <a:t>Marco normativo, características del modelo y análisis de riesgos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17320" y="5120640"/>
            <a:ext cx="9357055" cy="0"/>
          </a:xfrm>
          <a:prstGeom prst="line">
            <a:avLst/>
          </a:prstGeom>
          <a:ln w="9525">
            <a:solidFill>
              <a:srgbClr val="3E4755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417320" y="5340096"/>
            <a:ext cx="286298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1" i="0" spc="240" cap="all">
                <a:solidFill>
                  <a:srgbClr val="B9A98B"/>
                </a:solidFill>
                <a:latin typeface="Calibri"/>
                <a:ea typeface="Calibri"/>
                <a:cs typeface="Calibri"/>
              </a:rPr>
              <a:t>Integrantes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7CED6"/>
                </a:solidFill>
                <a:latin typeface="Calibri"/>
                <a:ea typeface="Calibri"/>
                <a:cs typeface="Calibri"/>
              </a:rPr>
              <a:t>Juan Camilo Rivas Ceballos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7CED6"/>
                </a:solidFill>
                <a:latin typeface="Calibri"/>
                <a:ea typeface="Calibri"/>
                <a:cs typeface="Calibri"/>
              </a:rPr>
              <a:t>Jimmy Alejandro Romero Amaya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7CED6"/>
                </a:solidFill>
                <a:latin typeface="Calibri"/>
                <a:ea typeface="Calibri"/>
                <a:cs typeface="Calibri"/>
              </a:rPr>
              <a:t>Santiago Ospina Porras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6338" y="5340096"/>
            <a:ext cx="286298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1" i="0" spc="240" cap="all">
                <a:solidFill>
                  <a:srgbClr val="B9A98B"/>
                </a:solidFill>
                <a:latin typeface="Calibri"/>
                <a:ea typeface="Calibri"/>
                <a:cs typeface="Calibri"/>
              </a:rPr>
              <a:t>Docente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7CED6"/>
                </a:solidFill>
                <a:latin typeface="Calibri"/>
                <a:ea typeface="Calibri"/>
                <a:cs typeface="Calibri"/>
              </a:rPr>
              <a:t>Santiago Ramírez Echeverry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7CED6"/>
                </a:solidFill>
                <a:latin typeface="Calibri"/>
                <a:ea typeface="Calibri"/>
                <a:cs typeface="Calibri"/>
              </a:rPr>
              <a:t>Construcción de Infraestructura Vial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90034.333333334" y="5358384"/>
            <a:ext cx="0.0" cy="841248"/>
          </a:xfrm>
          <a:prstGeom prst="line">
            <a:avLst/>
          </a:prstGeom>
          <a:ln w="9525">
            <a:solidFill>
              <a:srgbClr val="3E4755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7655356" y="5340096"/>
            <a:ext cx="286298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1" i="0" spc="240" cap="all">
                <a:solidFill>
                  <a:srgbClr val="B9A98B"/>
                </a:solidFill>
                <a:latin typeface="Calibri"/>
                <a:ea typeface="Calibri"/>
                <a:cs typeface="Calibri"/>
              </a:rPr>
              <a:t>Facultad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7CED6"/>
                </a:solidFill>
                <a:latin typeface="Calibri"/>
                <a:ea typeface="Calibri"/>
                <a:cs typeface="Calibri"/>
              </a:rPr>
              <a:t>Ingeniería — Departamento de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7CED6"/>
                </a:solidFill>
                <a:latin typeface="Calibri"/>
                <a:ea typeface="Calibri"/>
                <a:cs typeface="Calibri"/>
              </a:rPr>
              <a:t>Ingeniería Civil y Agrícola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7CED6"/>
                </a:solidFill>
                <a:latin typeface="Calibri"/>
                <a:ea typeface="Calibri"/>
                <a:cs typeface="Calibri"/>
              </a:rPr>
              <a:t>Bogotá, 2026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09052.666666667" y="5358384"/>
            <a:ext cx="0.0" cy="841248"/>
          </a:xfrm>
          <a:prstGeom prst="line">
            <a:avLst/>
          </a:prstGeom>
          <a:ln w="9525">
            <a:solidFill>
              <a:srgbClr val="3E4755"/>
            </a:solidFill>
          </a:ln>
          <a:effectLst/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escud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2429" y="1755648"/>
            <a:ext cx="3099648" cy="3977639"/>
          </a:xfrm>
          <a:prstGeom prst="rect">
            <a:avLst/>
          </a:prstGeom>
        </p:spPr>
      </p:pic>
      <p:pic>
        <p:nvPicPr>
          <p:cNvPr id="4" name="Picture 3" descr="escud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247" y="402336"/>
            <a:ext cx="555901" cy="7132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8" y="457200"/>
            <a:ext cx="97776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 cap="all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Estructura de la presentación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9777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2430"/>
                </a:solidFill>
                <a:latin typeface="Georgia"/>
                <a:ea typeface="Georgia"/>
                <a:cs typeface="Georgia"/>
              </a:rPr>
              <a:t>Contenido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49808" y="1316736"/>
            <a:ext cx="10692079" cy="0"/>
          </a:xfrm>
          <a:prstGeom prst="line">
            <a:avLst/>
          </a:prstGeom>
          <a:ln w="12700">
            <a:solidFill>
              <a:srgbClr val="D9D4C8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749808" y="1316736"/>
            <a:ext cx="1234440" cy="0"/>
          </a:xfrm>
          <a:prstGeom prst="line">
            <a:avLst/>
          </a:prstGeom>
          <a:ln w="25400">
            <a:solidFill>
              <a:srgbClr val="8C7A5B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749808" y="6309360"/>
            <a:ext cx="10692079" cy="0"/>
          </a:xfrm>
          <a:prstGeom prst="line">
            <a:avLst/>
          </a:prstGeom>
          <a:ln w="9525">
            <a:solidFill>
              <a:srgbClr val="E7E3DA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749808" y="6419088"/>
            <a:ext cx="80190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Concesiones viales — Cuarta Generación  ·  Universidad Nacional de Colombia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44607" y="64190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C7A5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6" y="1938528"/>
            <a:ext cx="461909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C2430"/>
                </a:solidFill>
                <a:latin typeface="Georgia"/>
                <a:ea typeface="Georgia"/>
                <a:cs typeface="Georgia"/>
              </a:rPr>
              <a:t>Introducción y contexto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El rezago vial y el origen del programa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956816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9808.0" y="2505456"/>
            <a:ext cx="5003139.5" cy="0"/>
          </a:xfrm>
          <a:prstGeom prst="line">
            <a:avLst/>
          </a:prstGeom>
          <a:ln w="9525">
            <a:solidFill>
              <a:srgbClr val="E7E3DA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6822795" y="1938528"/>
            <a:ext cx="461909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C2430"/>
                </a:solidFill>
                <a:latin typeface="Georgia"/>
                <a:ea typeface="Georgia"/>
                <a:cs typeface="Georgia"/>
              </a:rPr>
              <a:t>Antecedentes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Qué dejaron las concesiones de 1.ª a 3.ª generación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956816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47307.5" y="2505456"/>
            <a:ext cx="5003139.5" cy="0"/>
          </a:xfrm>
          <a:prstGeom prst="line">
            <a:avLst/>
          </a:prstGeom>
          <a:ln w="9525">
            <a:solidFill>
              <a:srgbClr val="E7E3DA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1225296" y="2926080"/>
            <a:ext cx="461909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C2430"/>
                </a:solidFill>
                <a:latin typeface="Georgia"/>
                <a:ea typeface="Georgia"/>
                <a:cs typeface="Georgia"/>
              </a:rPr>
              <a:t>Objetivo del programa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Qué se propuso alcanzar la 4G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944368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49808.0" y="3493008"/>
            <a:ext cx="5003139.5" cy="0"/>
          </a:xfrm>
          <a:prstGeom prst="line">
            <a:avLst/>
          </a:prstGeom>
          <a:ln w="9525">
            <a:solidFill>
              <a:srgbClr val="E7E3DA"/>
            </a:solidFill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6822795" y="2926080"/>
            <a:ext cx="461909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C2430"/>
                </a:solidFill>
                <a:latin typeface="Georgia"/>
                <a:ea typeface="Georgia"/>
                <a:cs typeface="Georgia"/>
              </a:rPr>
              <a:t>Marco normativo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Leyes, decretos y documentos CONPES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7307" y="2944368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347307.5" y="3493008"/>
            <a:ext cx="5003139.5" cy="0"/>
          </a:xfrm>
          <a:prstGeom prst="line">
            <a:avLst/>
          </a:prstGeom>
          <a:ln w="9525">
            <a:solidFill>
              <a:srgbClr val="E7E3DA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1225296" y="3913632"/>
            <a:ext cx="461909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C2430"/>
                </a:solidFill>
                <a:latin typeface="Georgia"/>
                <a:ea typeface="Georgia"/>
                <a:cs typeface="Georgia"/>
              </a:rPr>
              <a:t>Lineamientos del CONPES 3760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Las seis decisiones de política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93192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9808.0" y="4480560"/>
            <a:ext cx="5003139.5" cy="0"/>
          </a:xfrm>
          <a:prstGeom prst="line">
            <a:avLst/>
          </a:prstGeom>
          <a:ln w="9525">
            <a:solidFill>
              <a:srgbClr val="E7E3DA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6822795" y="3913632"/>
            <a:ext cx="461909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C2430"/>
                </a:solidFill>
                <a:latin typeface="Georgia"/>
                <a:ea typeface="Georgia"/>
                <a:cs typeface="Georgia"/>
              </a:rPr>
              <a:t>Características del modelo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Contrato, retribución, financiación y predios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7307" y="393192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347307.5" y="4480560"/>
            <a:ext cx="5003139.5" cy="0"/>
          </a:xfrm>
          <a:prstGeom prst="line">
            <a:avLst/>
          </a:prstGeom>
          <a:ln w="9525">
            <a:solidFill>
              <a:srgbClr val="E7E3DA"/>
            </a:solidFill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1225296" y="4901184"/>
            <a:ext cx="461909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C2430"/>
                </a:solidFill>
                <a:latin typeface="Georgia"/>
                <a:ea typeface="Georgia"/>
                <a:cs typeface="Georgia"/>
              </a:rPr>
              <a:t>Matriz de riesgos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Asignación entre el Estado y el concesionario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919472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49808.0" y="5468112"/>
            <a:ext cx="5003139.5" cy="0"/>
          </a:xfrm>
          <a:prstGeom prst="line">
            <a:avLst/>
          </a:prstGeom>
          <a:ln w="9525">
            <a:solidFill>
              <a:srgbClr val="E7E3DA"/>
            </a:solidFill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6822795" y="4901184"/>
            <a:ext cx="461909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C2430"/>
                </a:solidFill>
                <a:latin typeface="Georgia"/>
                <a:ea typeface="Georgia"/>
                <a:cs typeface="Georgia"/>
              </a:rPr>
              <a:t>Materialización y conclusiones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Casos, lecciones y balance del programa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7307" y="4919472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347307.5" y="5468112"/>
            <a:ext cx="5003139.5" cy="0"/>
          </a:xfrm>
          <a:prstGeom prst="line">
            <a:avLst/>
          </a:prstGeom>
          <a:ln w="9525">
            <a:solidFill>
              <a:srgbClr val="E7E3DA"/>
            </a:solidFill>
          </a:ln>
          <a:effectLst/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escud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9306" y="1783080"/>
            <a:ext cx="2992764" cy="3840480"/>
          </a:xfrm>
          <a:prstGeom prst="rect">
            <a:avLst/>
          </a:prstGeom>
        </p:spPr>
      </p:pic>
      <p:pic>
        <p:nvPicPr>
          <p:cNvPr id="4" name="Picture 3" descr="escud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247" y="402336"/>
            <a:ext cx="555901" cy="7132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8" y="457200"/>
            <a:ext cx="97776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 cap="all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Introducción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9777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2430"/>
                </a:solidFill>
                <a:latin typeface="Georgia"/>
                <a:ea typeface="Georgia"/>
                <a:cs typeface="Georgia"/>
              </a:rPr>
              <a:t>El punto de partida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49808" y="1316736"/>
            <a:ext cx="10692079" cy="0"/>
          </a:xfrm>
          <a:prstGeom prst="line">
            <a:avLst/>
          </a:prstGeom>
          <a:ln w="12700">
            <a:solidFill>
              <a:srgbClr val="D9D4C8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749808" y="1316736"/>
            <a:ext cx="1234440" cy="0"/>
          </a:xfrm>
          <a:prstGeom prst="line">
            <a:avLst/>
          </a:prstGeom>
          <a:ln w="25400">
            <a:solidFill>
              <a:srgbClr val="8C7A5B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749808" y="1435608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Por qué Colombia necesitaba un nuevo modelo de concesión vial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9808" y="6309360"/>
            <a:ext cx="10692079" cy="0"/>
          </a:xfrm>
          <a:prstGeom prst="line">
            <a:avLst/>
          </a:prstGeom>
          <a:ln w="9525">
            <a:solidFill>
              <a:srgbClr val="E7E3DA"/>
            </a:solidFill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749808" y="6419088"/>
            <a:ext cx="80190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Concesiones viales — Cuarta Generación  ·  Universidad Nacional de Colombia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44607" y="64190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C7A5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847088"/>
            <a:ext cx="66294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0" i="0">
                <a:solidFill>
                  <a:srgbClr val="3A4654"/>
                </a:solidFill>
                <a:latin typeface="Georgia"/>
                <a:ea typeface="Georgia"/>
                <a:cs typeface="Georgia"/>
              </a:rPr>
              <a:t>Colombia arrastra un rezago histórico en infraestructura vial que encarece el transporte, limita la conectividad y resta competitividad a las regiones.</a:t>
            </a:r>
          </a:p>
          <a:p>
            <a:pPr algn="l" marL="237744" indent="-237744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1" i="0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—  </a:t>
            </a:r>
            <a:r>
              <a:rPr sz="120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Tres generaciones previas </a:t>
            </a:r>
            <a:r>
              <a:rPr sz="120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de concesiones con participación privada, marcadas por renegociaciones, prórrogas y una gestión deficiente del riesgo.</a:t>
            </a:r>
          </a:p>
          <a:p>
            <a:pPr algn="l" marL="237744" indent="-237744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1" i="0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—  </a:t>
            </a:r>
            <a:r>
              <a:rPr sz="120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En 2013 </a:t>
            </a:r>
            <a:r>
              <a:rPr sz="120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el Gobierno Nacional formula el programa de Cuarta Generación bajo el esquema APP de la Ley 1508 de 2012, desarrollado por el CONPES 3760.</a:t>
            </a:r>
          </a:p>
          <a:p>
            <a:pPr algn="l" marL="237744" indent="-237744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1" i="0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—  </a:t>
            </a:r>
            <a:r>
              <a:rPr sz="120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El cambio es contractual, </a:t>
            </a:r>
            <a:r>
              <a:rPr sz="120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no tecnológico: mejor estructuración de los proyectos, riesgos explícitamente asignados y remuneración atada a la disponibilidad y al nivel de servicio de la vía.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9808" y="4608576"/>
            <a:ext cx="6446520" cy="0"/>
          </a:xfrm>
          <a:prstGeom prst="line">
            <a:avLst/>
          </a:prstGeom>
          <a:ln w="9525">
            <a:solidFill>
              <a:srgbClr val="D9D4C8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749808" y="4773168"/>
            <a:ext cx="19110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8C7A5B"/>
                </a:solidFill>
                <a:latin typeface="Georgia"/>
                <a:ea typeface="Georgia"/>
                <a:cs typeface="Georgia"/>
              </a:rPr>
              <a:t>1994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Arrancan las concesiones viales con participación privada.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648" y="4773168"/>
            <a:ext cx="19110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8C7A5B"/>
                </a:solidFill>
                <a:latin typeface="Georgia"/>
                <a:ea typeface="Georgia"/>
                <a:cs typeface="Georgia"/>
              </a:rPr>
              <a:t>2012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Ley 1508: régimen jurídico de las APP en Colombia.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79776.0" y="4809744"/>
            <a:ext cx="0.0" cy="731520"/>
          </a:xfrm>
          <a:prstGeom prst="line">
            <a:avLst/>
          </a:prstGeom>
          <a:ln w="9525">
            <a:solidFill>
              <a:srgbClr val="D9D4C8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5047488" y="4773168"/>
            <a:ext cx="19110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8C7A5B"/>
                </a:solidFill>
                <a:latin typeface="Georgia"/>
                <a:ea typeface="Georgia"/>
                <a:cs typeface="Georgia"/>
              </a:rPr>
              <a:t>2013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CONPES 3760: nace el programa de Cuarta Generación.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28616.0" y="4809744"/>
            <a:ext cx="0.0" cy="731520"/>
          </a:xfrm>
          <a:prstGeom prst="line">
            <a:avLst/>
          </a:prstGeom>
          <a:ln w="9525">
            <a:solidFill>
              <a:srgbClr val="D9D4C8"/>
            </a:solidFill>
          </a:ln>
          <a:effectLst/>
        </p:spPr>
      </p:cxnSp>
      <p:sp>
        <p:nvSpPr>
          <p:cNvPr id="20" name="Rectangle 19"/>
          <p:cNvSpPr/>
          <p:nvPr/>
        </p:nvSpPr>
        <p:spPr>
          <a:xfrm>
            <a:off x="7882128" y="1847088"/>
            <a:ext cx="3559759" cy="3547872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7882128" y="1847088"/>
            <a:ext cx="0" cy="3547872"/>
          </a:xfrm>
          <a:prstGeom prst="line">
            <a:avLst/>
          </a:prstGeom>
          <a:ln w="28575">
            <a:solidFill>
              <a:srgbClr val="8C7A5B"/>
            </a:solidFill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8156448" y="2084831"/>
            <a:ext cx="3029407" cy="3072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900" b="1" i="0" spc="240" cap="all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La idea central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sz="1600" b="0" i="1">
                <a:solidFill>
                  <a:srgbClr val="1C2430"/>
                </a:solidFill>
                <a:latin typeface="Georgia"/>
                <a:ea typeface="Georgia"/>
                <a:cs typeface="Georgia"/>
              </a:rPr>
              <a:t>«La retribución deja de pagar obra ejecutada y empieza a pagar infraestructura disponible.»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600"/>
              </a:spcAft>
            </a:pPr>
            <a:r>
              <a:rPr sz="110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El concesionario solo recibe ingresos por las unidades funcionales que entrega, habilitadas y auditadas, y mientras cumpla los indicadores de nivel de servicio.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" cap="all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Ley 1508 de 2012  ·  CONPES 3760 de 2013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escud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9306" y="1783080"/>
            <a:ext cx="2992764" cy="3840480"/>
          </a:xfrm>
          <a:prstGeom prst="rect">
            <a:avLst/>
          </a:prstGeom>
        </p:spPr>
      </p:pic>
      <p:pic>
        <p:nvPicPr>
          <p:cNvPr id="4" name="Picture 3" descr="escud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247" y="402336"/>
            <a:ext cx="555901" cy="7132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8" y="457200"/>
            <a:ext cx="97776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 cap="all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Antecedentes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9777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2430"/>
                </a:solidFill>
                <a:latin typeface="Georgia"/>
                <a:ea typeface="Georgia"/>
                <a:cs typeface="Georgia"/>
              </a:rPr>
              <a:t>La herencia de las tres primeras generaciones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49808" y="1316736"/>
            <a:ext cx="10692079" cy="0"/>
          </a:xfrm>
          <a:prstGeom prst="line">
            <a:avLst/>
          </a:prstGeom>
          <a:ln w="12700">
            <a:solidFill>
              <a:srgbClr val="D9D4C8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749808" y="1316736"/>
            <a:ext cx="1234440" cy="0"/>
          </a:xfrm>
          <a:prstGeom prst="line">
            <a:avLst/>
          </a:prstGeom>
          <a:ln w="25400">
            <a:solidFill>
              <a:srgbClr val="8C7A5B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749808" y="1435608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El programa 4G no surge de forma aislada: responde a problemas ya identificados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9808" y="6309360"/>
            <a:ext cx="10692079" cy="0"/>
          </a:xfrm>
          <a:prstGeom prst="line">
            <a:avLst/>
          </a:prstGeom>
          <a:ln w="9525">
            <a:solidFill>
              <a:srgbClr val="E7E3DA"/>
            </a:solidFill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749808" y="6419088"/>
            <a:ext cx="80190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Concesiones viales — Cuarta Generación  ·  Universidad Nacional de Colombia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44607" y="64190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C7A5B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1847088"/>
            <a:ext cx="3295802" cy="1993392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749808.0" y="1847088"/>
            <a:ext cx="0.0" cy="1993392"/>
          </a:xfrm>
          <a:prstGeom prst="line">
            <a:avLst/>
          </a:prstGeom>
          <a:ln w="28575">
            <a:solidFill>
              <a:srgbClr val="8C7A5B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950976" y="1984248"/>
            <a:ext cx="2893466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I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Experiencia acumulada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Al formularse la 4G, Colombia ya había ejecutado tres generaciones de concesiones bajo participación público-privada. Cada etapa incorporó mejoras, pero ninguna resolvió del todo los problemas de fondo.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47946" y="1847088"/>
            <a:ext cx="3295802" cy="1993392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4447946.333333334" y="1847088"/>
            <a:ext cx="0.0" cy="1993392"/>
          </a:xfrm>
          <a:prstGeom prst="line">
            <a:avLst/>
          </a:prstGeom>
          <a:ln w="28575">
            <a:solidFill>
              <a:srgbClr val="8C7A5B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4649114" y="1984248"/>
            <a:ext cx="2893466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II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Riesgos mal distribuidos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Persistía una asignación difusa de riesgos entre el Estado y el concesionario, que derivaba en renegociaciones, prórrogas y mayores compromisos para el sector público.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6084" y="1847088"/>
            <a:ext cx="3295802" cy="1993392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146084.666666667" y="1847088"/>
            <a:ext cx="0.0" cy="1993392"/>
          </a:xfrm>
          <a:prstGeom prst="line">
            <a:avLst/>
          </a:prstGeom>
          <a:ln w="28575">
            <a:solidFill>
              <a:srgbClr val="8C7A5B"/>
            </a:solidFill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8347252" y="1984248"/>
            <a:ext cx="2893466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III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El cuello de botella predial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La dificultad para disponer oportunamente de los predios fue el problema más relevante de la 1.ª a la 3.ª generación, y una fuente constante de retrasos y sobrecostos en obra.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4261104"/>
            <a:ext cx="10692079" cy="1481328"/>
          </a:xfrm>
          <a:prstGeom prst="rect">
            <a:avLst/>
          </a:prstGeom>
          <a:solidFill>
            <a:srgbClr val="1C24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33856" y="4498848"/>
            <a:ext cx="992398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900" b="1" i="0" spc="260" cap="all">
                <a:solidFill>
                  <a:srgbClr val="B9A98B"/>
                </a:solidFill>
                <a:latin typeface="Calibri"/>
                <a:ea typeface="Calibri"/>
                <a:cs typeface="Calibri"/>
              </a:rPr>
              <a:t>La respuesta del modelo 4G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DE7DB"/>
                </a:solidFill>
                <a:latin typeface="Georgia"/>
                <a:ea typeface="Georgia"/>
                <a:cs typeface="Georgia"/>
              </a:rPr>
              <a:t>Un esquema más estructurado y estandarizado, respaldado por la Ley 1508, que incorporó medidas específicas de gestión predial —lideradas por el concesionario y tramitadas por la ANI con apoyo de otras entidades— para que la disponibilidad de los terrenos dejara de frenar la ejecución.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escud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9306" y="1783080"/>
            <a:ext cx="2992764" cy="3840480"/>
          </a:xfrm>
          <a:prstGeom prst="rect">
            <a:avLst/>
          </a:prstGeom>
        </p:spPr>
      </p:pic>
      <p:pic>
        <p:nvPicPr>
          <p:cNvPr id="4" name="Picture 3" descr="escud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247" y="402336"/>
            <a:ext cx="555901" cy="7132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8" y="457200"/>
            <a:ext cx="97776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 cap="all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Objetivo del programa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9777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2430"/>
                </a:solidFill>
                <a:latin typeface="Georgia"/>
                <a:ea typeface="Georgia"/>
                <a:cs typeface="Georgia"/>
              </a:rPr>
              <a:t>Qué se propuso la Cuarta Generación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49808" y="1316736"/>
            <a:ext cx="10692079" cy="0"/>
          </a:xfrm>
          <a:prstGeom prst="line">
            <a:avLst/>
          </a:prstGeom>
          <a:ln w="12700">
            <a:solidFill>
              <a:srgbClr val="D9D4C8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749808" y="1316736"/>
            <a:ext cx="1234440" cy="0"/>
          </a:xfrm>
          <a:prstGeom prst="line">
            <a:avLst/>
          </a:prstGeom>
          <a:ln w="25400">
            <a:solidFill>
              <a:srgbClr val="8C7A5B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749808" y="6309360"/>
            <a:ext cx="10692079" cy="0"/>
          </a:xfrm>
          <a:prstGeom prst="line">
            <a:avLst/>
          </a:prstGeom>
          <a:ln w="9525">
            <a:solidFill>
              <a:srgbClr val="E7E3DA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749808" y="6419088"/>
            <a:ext cx="80190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Concesiones viales — Cuarta Generación  ·  Universidad Nacional de Colombia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44607" y="64190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C7A5B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1700784"/>
            <a:ext cx="10692079" cy="987552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749808" y="1700784"/>
            <a:ext cx="0" cy="987552"/>
          </a:xfrm>
          <a:prstGeom prst="line">
            <a:avLst/>
          </a:prstGeom>
          <a:ln w="28575">
            <a:solidFill>
              <a:srgbClr val="8C7A5B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1060704" y="1847088"/>
            <a:ext cx="10070287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C2430"/>
                </a:solidFill>
                <a:latin typeface="Georgia"/>
                <a:ea typeface="Georgia"/>
                <a:cs typeface="Georgia"/>
              </a:rPr>
              <a:t>Reducir la brecha de infraestructura y consolidar la red vial nacional mediante una conectividad continua y eficiente entre los centros de producción y consumo, las zonas portuarias y las fronteras del país.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92608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60" cap="all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Cuatro líneas de acción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3236976"/>
            <a:ext cx="2426131" cy="1773936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749808.0" y="3236976"/>
            <a:ext cx="0.0" cy="1773936"/>
          </a:xfrm>
          <a:prstGeom prst="line">
            <a:avLst/>
          </a:prstGeom>
          <a:ln w="28575">
            <a:solidFill>
              <a:srgbClr val="8C7A5B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950976" y="3374136"/>
            <a:ext cx="2023795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01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Estructuración integral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Fortalecer los estudios técnicos, ambientales, sociales, jurídicos y financieros antes de contratar.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5123" y="3236976"/>
            <a:ext cx="2426131" cy="1773936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3505123.75" y="3236976"/>
            <a:ext cx="0.0" cy="1773936"/>
          </a:xfrm>
          <a:prstGeom prst="line">
            <a:avLst/>
          </a:prstGeom>
          <a:ln w="28575">
            <a:solidFill>
              <a:srgbClr val="8C7A5B"/>
            </a:solidFill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3706291" y="3374136"/>
            <a:ext cx="2023795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02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Asignación eficiente del riesgo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Cada riesgo queda en manos de la parte con mayor capacidad para administrarlo.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0439" y="3236976"/>
            <a:ext cx="2426131" cy="1773936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6260439.5" y="3236976"/>
            <a:ext cx="0.0" cy="1773936"/>
          </a:xfrm>
          <a:prstGeom prst="line">
            <a:avLst/>
          </a:prstGeom>
          <a:ln w="28575">
            <a:solidFill>
              <a:srgbClr val="8C7A5B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6461607" y="3374136"/>
            <a:ext cx="2023795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03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Financiación de largo plazo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Atraer banca comercial, multilaterales y fondos de pensiones a plazos compatibles con la obra.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15755" y="3236976"/>
            <a:ext cx="2426131" cy="1773936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9015755.25" y="3236976"/>
            <a:ext cx="0.0" cy="1773936"/>
          </a:xfrm>
          <a:prstGeom prst="line">
            <a:avLst/>
          </a:prstGeom>
          <a:ln w="28575">
            <a:solidFill>
              <a:srgbClr val="8C7A5B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9216923" y="3374136"/>
            <a:ext cx="2023795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04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Estandarización y unidades funcionales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Contratos tipo que reducen modificaciones y permiten la entrada progresiva en operación.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358384"/>
            <a:ext cx="10692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Resultado esperado.  </a:t>
            </a:r>
            <a:r>
              <a:rPr sz="125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Menores tiempos de viaje y menores costos de transporte —en particular para la carga—, junto con una gestión más eficiente de los recursos públicos y una prestación continua del servicio vial.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49808" y="5248656"/>
            <a:ext cx="10692079" cy="0"/>
          </a:xfrm>
          <a:prstGeom prst="line">
            <a:avLst/>
          </a:prstGeom>
          <a:ln w="9525">
            <a:solidFill>
              <a:srgbClr val="E7E3DA"/>
            </a:solidFill>
          </a:ln>
          <a:effectLst/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escud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3247" y="402336"/>
            <a:ext cx="555901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8" y="457200"/>
            <a:ext cx="97776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 cap="all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Marco normativo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9777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2430"/>
                </a:solidFill>
                <a:latin typeface="Georgia"/>
                <a:ea typeface="Georgia"/>
                <a:cs typeface="Georgia"/>
              </a:rPr>
              <a:t>Normas y documentos de política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49808" y="1316736"/>
            <a:ext cx="10692079" cy="0"/>
          </a:xfrm>
          <a:prstGeom prst="line">
            <a:avLst/>
          </a:prstGeom>
          <a:ln w="12700">
            <a:solidFill>
              <a:srgbClr val="D9D4C8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749808" y="1316736"/>
            <a:ext cx="1234440" cy="0"/>
          </a:xfrm>
          <a:prstGeom prst="line">
            <a:avLst/>
          </a:prstGeom>
          <a:ln w="25400">
            <a:solidFill>
              <a:srgbClr val="8C7A5B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749808" y="1435608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Tabla 1. Principales instrumentos que soportan el programa 4G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9808" y="6309360"/>
            <a:ext cx="10692079" cy="0"/>
          </a:xfrm>
          <a:prstGeom prst="line">
            <a:avLst/>
          </a:prstGeom>
          <a:ln w="9525">
            <a:solidFill>
              <a:srgbClr val="E7E3DA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749808" y="6419088"/>
            <a:ext cx="80190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Concesiones viales — Cuarta Generación  ·  Universidad Nacional de Colombia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44607" y="64190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C7A5B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49808" y="1847088"/>
          <a:ext cx="10692079" cy="389534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88920"/>
                <a:gridCol w="7903159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 i="0" spc="140" cap="all">
                          <a:solidFill>
                            <a:srgbClr val="EDE7DB"/>
                          </a:solidFill>
                          <a:latin typeface="Calibri"/>
                          <a:ea typeface="Calibri"/>
                          <a:cs typeface="Calibri"/>
                        </a:rPr>
                        <a:t>Norma o documento</a:t>
                      </a:r>
                    </a:p>
                  </a:txBody>
                  <a:tcPr anchor="ctr" marL="82296" marR="82296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1C2430"/>
                      </a:solidFill>
                    </a:lnT>
                    <a:lnB w="9525" cap="flat" cmpd="sng" algn="ctr">
                      <a:solidFill>
                        <a:srgbClr val="1C2430"/>
                      </a:solidFill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 i="0" spc="140" cap="all">
                          <a:solidFill>
                            <a:srgbClr val="EDE7DB"/>
                          </a:solidFill>
                          <a:latin typeface="Calibri"/>
                          <a:ea typeface="Calibri"/>
                          <a:cs typeface="Calibri"/>
                        </a:rPr>
                        <a:t>Aporte al programa</a:t>
                      </a:r>
                    </a:p>
                  </a:txBody>
                  <a:tcPr anchor="ctr" marL="82296" marR="82296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1C2430"/>
                      </a:solidFill>
                    </a:lnT>
                    <a:lnB w="9525" cap="flat" cmpd="sng" algn="ctr">
                      <a:solidFill>
                        <a:srgbClr val="1C2430"/>
                      </a:solidFill>
                    </a:lnB>
                    <a:solidFill>
                      <a:srgbClr val="1C2430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00" b="1" i="0">
                          <a:solidFill>
                            <a:srgbClr val="1C2430"/>
                          </a:solidFill>
                          <a:latin typeface="Georgia"/>
                          <a:ea typeface="Georgia"/>
                          <a:cs typeface="Georgia"/>
                        </a:rPr>
                        <a:t>Ley 1508 de 2012</a:t>
                      </a:r>
                    </a:p>
                  </a:txBody>
                  <a:tcPr anchor="ctr" marL="82296" marR="82296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95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Establece el régimen jurídico de las APP: plazo máximo de 30 años incluidas prórrogas, retribución por unidades funcionales condicionada a la disponibilidad y a los niveles de servicio, y facultad del CONFIS para comprometer vigencias futuras.</a:t>
                      </a:r>
                    </a:p>
                  </a:txBody>
                  <a:tcPr anchor="ctr" marL="82296" marR="82296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00" b="1" i="0">
                          <a:solidFill>
                            <a:srgbClr val="1C2430"/>
                          </a:solidFill>
                          <a:latin typeface="Georgia"/>
                          <a:ea typeface="Georgia"/>
                          <a:cs typeface="Georgia"/>
                        </a:rPr>
                        <a:t>Decretos 1467 de 2012
y 1610 de 2013</a:t>
                      </a:r>
                    </a:p>
                  </a:txBody>
                  <a:tcPr anchor="ctr" marL="82296" marR="82296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95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Reglamentan la Ley 1508 y definen los parámetros para comprometer vigencias futuras en proyectos APP.</a:t>
                      </a:r>
                    </a:p>
                  </a:txBody>
                  <a:tcPr anchor="ctr" marL="82296" marR="82296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noFill/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00" b="1" i="0">
                          <a:solidFill>
                            <a:srgbClr val="1C2430"/>
                          </a:solidFill>
                          <a:latin typeface="Georgia"/>
                          <a:ea typeface="Georgia"/>
                          <a:cs typeface="Georgia"/>
                        </a:rPr>
                        <a:t>CONPES 3760 de 2013</a:t>
                      </a:r>
                    </a:p>
                  </a:txBody>
                  <a:tcPr anchor="ctr" marL="82296" marR="82296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95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Fija los lineamientos de política y la política de riesgos del programa; es la base de la estructuración, contratación y ejecución de los proyectos priorizados.</a:t>
                      </a:r>
                    </a:p>
                  </a:txBody>
                  <a:tcPr anchor="ctr" marL="82296" marR="82296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00" b="1" i="0">
                          <a:solidFill>
                            <a:srgbClr val="1C2430"/>
                          </a:solidFill>
                          <a:latin typeface="Georgia"/>
                          <a:ea typeface="Georgia"/>
                          <a:cs typeface="Georgia"/>
                        </a:rPr>
                        <a:t>CONPES 3761, 3770
y 3844</a:t>
                      </a:r>
                    </a:p>
                  </a:txBody>
                  <a:tcPr anchor="ctr" marL="82296" marR="82296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95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Priorizan los grupos de proyectos bajo el cupo de vigencias futuras APP: corredores pioneros, Autopistas para la Prosperidad y fase I de la tercera ola.</a:t>
                      </a:r>
                    </a:p>
                  </a:txBody>
                  <a:tcPr anchor="ctr" marL="82296" marR="82296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noFill/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00" b="1" i="0">
                          <a:solidFill>
                            <a:srgbClr val="1C2430"/>
                          </a:solidFill>
                          <a:latin typeface="Georgia"/>
                          <a:ea typeface="Georgia"/>
                          <a:cs typeface="Georgia"/>
                        </a:rPr>
                        <a:t>CONPES 3133 de 2001</a:t>
                      </a:r>
                    </a:p>
                  </a:txBody>
                  <a:tcPr anchor="ctr" marL="82296" marR="82296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95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Antecedente de la política de manejo del riesgo contractual del Estado en proyectos con participación privada.</a:t>
                      </a:r>
                    </a:p>
                  </a:txBody>
                  <a:tcPr anchor="ctr" marL="82296" marR="82296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00" b="1" i="0">
                          <a:solidFill>
                            <a:srgbClr val="1C2430"/>
                          </a:solidFill>
                          <a:latin typeface="Georgia"/>
                          <a:ea typeface="Georgia"/>
                          <a:cs typeface="Georgia"/>
                        </a:rPr>
                        <a:t>Resolución 3656 de 2012</a:t>
                      </a:r>
                    </a:p>
                  </a:txBody>
                  <a:tcPr anchor="ctr" marL="82296" marR="82296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95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Define el Comparador Público Privado (CPP), metodología para contrastar los costos del sector público ajustados por riesgo.</a:t>
                      </a:r>
                    </a:p>
                  </a:txBody>
                  <a:tcPr anchor="ctr" marL="82296" marR="82296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noFill/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00" b="1" i="0">
                          <a:solidFill>
                            <a:srgbClr val="1C2430"/>
                          </a:solidFill>
                          <a:latin typeface="Georgia"/>
                          <a:ea typeface="Georgia"/>
                          <a:cs typeface="Georgia"/>
                        </a:rPr>
                        <a:t>Ley 1882 de 2018</a:t>
                      </a:r>
                    </a:p>
                  </a:txBody>
                  <a:tcPr anchor="ctr" marL="82296" marR="82296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95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Modifica la Ley 1508 y, en su artículo 20, establece la fórmula de liquidación de contratos declarados nulos por corrupción, devolviendo seguridad jurídica al sector financiero.</a:t>
                      </a:r>
                    </a:p>
                  </a:txBody>
                  <a:tcPr anchor="ctr" marL="82296" marR="82296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escud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9306" y="1783080"/>
            <a:ext cx="2992764" cy="3840480"/>
          </a:xfrm>
          <a:prstGeom prst="rect">
            <a:avLst/>
          </a:prstGeom>
        </p:spPr>
      </p:pic>
      <p:pic>
        <p:nvPicPr>
          <p:cNvPr id="4" name="Picture 3" descr="escud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247" y="402336"/>
            <a:ext cx="555901" cy="7132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8" y="457200"/>
            <a:ext cx="97776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 cap="all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Lineamientos de política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9777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2430"/>
                </a:solidFill>
                <a:latin typeface="Georgia"/>
                <a:ea typeface="Georgia"/>
                <a:cs typeface="Georgia"/>
              </a:rPr>
              <a:t>Las seis decisiones del CONPES 3760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49808" y="1316736"/>
            <a:ext cx="10692079" cy="0"/>
          </a:xfrm>
          <a:prstGeom prst="line">
            <a:avLst/>
          </a:prstGeom>
          <a:ln w="12700">
            <a:solidFill>
              <a:srgbClr val="D9D4C8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749808" y="1316736"/>
            <a:ext cx="1234440" cy="0"/>
          </a:xfrm>
          <a:prstGeom prst="line">
            <a:avLst/>
          </a:prstGeom>
          <a:ln w="25400">
            <a:solidFill>
              <a:srgbClr val="8C7A5B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749808" y="1435608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Medidas orientadas a corregir las fallas de las generaciones anteriores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9808" y="6309360"/>
            <a:ext cx="10692079" cy="0"/>
          </a:xfrm>
          <a:prstGeom prst="line">
            <a:avLst/>
          </a:prstGeom>
          <a:ln w="9525">
            <a:solidFill>
              <a:srgbClr val="E7E3DA"/>
            </a:solidFill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749808" y="6419088"/>
            <a:ext cx="80190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Concesiones viales — Cuarta Generación  ·  Universidad Nacional de Colombia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44607" y="64190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C7A5B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1865376"/>
            <a:ext cx="3320186" cy="1901952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749808.0" y="1865376"/>
            <a:ext cx="0.0" cy="1901952"/>
          </a:xfrm>
          <a:prstGeom prst="line">
            <a:avLst/>
          </a:prstGeom>
          <a:ln w="28575">
            <a:solidFill>
              <a:srgbClr val="8C7A5B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950976" y="2002536"/>
            <a:ext cx="2917850" cy="1664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01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Estudios previos más completos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Los proyectos salen a contratación con mejor información, pero el concesionario conserva el diseño definitivo y puede optimizar trazado, ingeniería y gestión predial, social y ambiental.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5754" y="1865376"/>
            <a:ext cx="3320186" cy="1901952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4435754.333333334" y="1865376"/>
            <a:ext cx="0.0" cy="1901952"/>
          </a:xfrm>
          <a:prstGeom prst="line">
            <a:avLst/>
          </a:prstGeom>
          <a:ln w="28575">
            <a:solidFill>
              <a:srgbClr val="8C7A5B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4636922" y="2002536"/>
            <a:ext cx="2917850" cy="1664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02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Organización por unidades funcionales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El proyecto se divide en tramos habilitables de manera progresiva: el avance verificable de obra queda vinculado a la retribución.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1700" y="1865376"/>
            <a:ext cx="3320186" cy="1901952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121700.666666667" y="1865376"/>
            <a:ext cx="0.0" cy="1901952"/>
          </a:xfrm>
          <a:prstGeom prst="line">
            <a:avLst/>
          </a:prstGeom>
          <a:ln w="28575">
            <a:solidFill>
              <a:srgbClr val="8C7A5B"/>
            </a:solidFill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8322868" y="2002536"/>
            <a:ext cx="2917850" cy="1664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03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El Estado entra en la gestión predial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Se habilitan mecanismos de apoyo público a la adquisición de terrenos, incluida la compra directa de predios y otras alternativas de gestión.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4005072"/>
            <a:ext cx="3320186" cy="1901952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749808.0" y="4005072"/>
            <a:ext cx="0.0" cy="1901952"/>
          </a:xfrm>
          <a:prstGeom prst="line">
            <a:avLst/>
          </a:prstGeom>
          <a:ln w="28575">
            <a:solidFill>
              <a:srgbClr val="8C7A5B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950976" y="4142232"/>
            <a:ext cx="2917850" cy="1664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04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Vinculación de entidades financieras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Se promueve la participación de organismos multilaterales y bancos de desarrollo para facilitar el acceso a recursos de largo plazo.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5754" y="4005072"/>
            <a:ext cx="3320186" cy="1901952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4435754.333333334" y="4005072"/>
            <a:ext cx="0.0" cy="1901952"/>
          </a:xfrm>
          <a:prstGeom prst="line">
            <a:avLst/>
          </a:prstGeom>
          <a:ln w="28575">
            <a:solidFill>
              <a:srgbClr val="8C7A5B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4636922" y="4142232"/>
            <a:ext cx="2917850" cy="1664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05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Aportes y respaldo fiscal del Estado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El Gobierno compromete vigencias futuras para garantizar los recursos públicos que respaldan las retribuciones pactadas.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21700" y="4005072"/>
            <a:ext cx="3320186" cy="1901952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8121700.666666667" y="4005072"/>
            <a:ext cx="0.0" cy="1901952"/>
          </a:xfrm>
          <a:prstGeom prst="line">
            <a:avLst/>
          </a:prstGeom>
          <a:ln w="28575">
            <a:solidFill>
              <a:srgbClr val="8C7A5B"/>
            </a:solidFill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8322868" y="4142232"/>
            <a:ext cx="2917850" cy="1664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06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Matriz de distribución de riesgos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Se define explícitamente quién asume cada riesgo —incluidos el cierre financiero y la liquidez—, criterio ajustado después para atraer inversionistas y financiadores.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escud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9306" y="1783080"/>
            <a:ext cx="2992764" cy="3840480"/>
          </a:xfrm>
          <a:prstGeom prst="rect">
            <a:avLst/>
          </a:prstGeom>
        </p:spPr>
      </p:pic>
      <p:pic>
        <p:nvPicPr>
          <p:cNvPr id="4" name="Picture 3" descr="escud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247" y="402336"/>
            <a:ext cx="555901" cy="7132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8" y="457200"/>
            <a:ext cx="97776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 cap="all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Características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9777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2430"/>
                </a:solidFill>
                <a:latin typeface="Georgia"/>
                <a:ea typeface="Georgia"/>
                <a:cs typeface="Georgia"/>
              </a:rPr>
              <a:t>Cómo funciona un contrato 4G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49808" y="1316736"/>
            <a:ext cx="10692079" cy="0"/>
          </a:xfrm>
          <a:prstGeom prst="line">
            <a:avLst/>
          </a:prstGeom>
          <a:ln w="12700">
            <a:solidFill>
              <a:srgbClr val="D9D4C8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749808" y="1316736"/>
            <a:ext cx="1234440" cy="0"/>
          </a:xfrm>
          <a:prstGeom prst="line">
            <a:avLst/>
          </a:prstGeom>
          <a:ln w="25400">
            <a:solidFill>
              <a:srgbClr val="8C7A5B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749808" y="6309360"/>
            <a:ext cx="10692079" cy="0"/>
          </a:xfrm>
          <a:prstGeom prst="line">
            <a:avLst/>
          </a:prstGeom>
          <a:ln w="9525">
            <a:solidFill>
              <a:srgbClr val="E7E3DA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749808" y="6419088"/>
            <a:ext cx="80190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Concesiones viales — Cuarta Generación  ·  Universidad Nacional de Colombia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44607" y="64190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C7A5B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819656"/>
            <a:ext cx="475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792224"/>
            <a:ext cx="8680399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Contrato APP de largo plazo con minuta estándar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La ANI adoptó el Contrato Estándar 4G, con una parte general de términos transversales y una parte especial por proyecto. Reduce costos de transacción, da previsibilidad a los financiadores y restringe la renegociación.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9808" y="2679192"/>
            <a:ext cx="10692079" cy="0"/>
          </a:xfrm>
          <a:prstGeom prst="line">
            <a:avLst/>
          </a:prstGeom>
          <a:ln w="9525">
            <a:solidFill>
              <a:srgbClr val="E7E3DA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749808" y="2729484"/>
            <a:ext cx="475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2702052"/>
            <a:ext cx="8680399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Retribución y pagos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Peajes más aportes del Presupuesto General de la Nación, condicionados a la disponibilidad efectiva de la infraestructura y al cumplimiento de los indicadores de nivel de servicio. El pago se fracciona por unidades funcionales.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9808" y="3589020"/>
            <a:ext cx="10692079" cy="0"/>
          </a:xfrm>
          <a:prstGeom prst="line">
            <a:avLst/>
          </a:prstGeom>
          <a:ln w="9525">
            <a:solidFill>
              <a:srgbClr val="E7E3DA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749808" y="3639312"/>
            <a:ext cx="475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6736" y="3611880"/>
            <a:ext cx="8680399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Financiación y cierre financiero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Project Finance con capital de los inversionistas y deuda de largo plazo. El cierre definido se respalda con cartas de crédito; el cierre en firme exige contratos de crédito suscritos y sin él no puede iniciar la construcción.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49808" y="4498848"/>
            <a:ext cx="10692079" cy="0"/>
          </a:xfrm>
          <a:prstGeom prst="line">
            <a:avLst/>
          </a:prstGeom>
          <a:ln w="9525">
            <a:solidFill>
              <a:srgbClr val="E7E3DA"/>
            </a:solidFill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749808" y="4549140"/>
            <a:ext cx="475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6736" y="4521708"/>
            <a:ext cx="8680399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Gestión predial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El concesionario lidera la adquisición y asume su costo hasta el 120 % del valor estimado; la adquisición voluntaria y la expropiación siguen a cargo de la ANI. Así se acota la responsabilidad financiera del privado.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9808" y="5408676"/>
            <a:ext cx="10692079" cy="0"/>
          </a:xfrm>
          <a:prstGeom prst="line">
            <a:avLst/>
          </a:prstGeom>
          <a:ln w="9525">
            <a:solidFill>
              <a:srgbClr val="E7E3DA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749808" y="5458968"/>
            <a:ext cx="475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16736" y="5431536"/>
            <a:ext cx="8680399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Sustento fiscal y control del riesgo público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Vigencias futuras aprobadas por el CONFIS, previa valoración de riesgos del Ministerio de Hacienda, matrícula del contrato en el RUAPP y evaluación de conveniencia mediante el Comparador Público-Privado.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escud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3247" y="402336"/>
            <a:ext cx="555901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8" y="457200"/>
            <a:ext cx="97776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 cap="all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Riesgos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9777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2430"/>
                </a:solidFill>
                <a:latin typeface="Georgia"/>
                <a:ea typeface="Georgia"/>
                <a:cs typeface="Georgia"/>
              </a:rPr>
              <a:t>Matriz de asignación de riesgos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49808" y="1316736"/>
            <a:ext cx="10692079" cy="0"/>
          </a:xfrm>
          <a:prstGeom prst="line">
            <a:avLst/>
          </a:prstGeom>
          <a:ln w="12700">
            <a:solidFill>
              <a:srgbClr val="D9D4C8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749808" y="1316736"/>
            <a:ext cx="1234440" cy="0"/>
          </a:xfrm>
          <a:prstGeom prst="line">
            <a:avLst/>
          </a:prstGeom>
          <a:ln w="25400">
            <a:solidFill>
              <a:srgbClr val="8C7A5B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749808" y="1435608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Tabla 2. Distribución general; la responsabilidad concreta depende de cada contrato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9808" y="6309360"/>
            <a:ext cx="10692079" cy="0"/>
          </a:xfrm>
          <a:prstGeom prst="line">
            <a:avLst/>
          </a:prstGeom>
          <a:ln w="9525">
            <a:solidFill>
              <a:srgbClr val="E7E3DA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749808" y="6419088"/>
            <a:ext cx="80190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Concesiones viales — Cuarta Generación  ·  Universidad Nacional de Colombia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44607" y="64190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C7A5B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49808" y="1865376"/>
          <a:ext cx="10692079" cy="41330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31720"/>
                <a:gridCol w="3886200"/>
                <a:gridCol w="4474159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1" i="0" spc="140" cap="all">
                          <a:solidFill>
                            <a:srgbClr val="EDE7DB"/>
                          </a:solidFill>
                          <a:latin typeface="Calibri"/>
                          <a:ea typeface="Calibri"/>
                          <a:cs typeface="Calibri"/>
                        </a:rPr>
                        <a:t>Riesgo</a:t>
                      </a:r>
                    </a:p>
                  </a:txBody>
                  <a:tcPr anchor="ctr" marL="82296" marR="82296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1C2430"/>
                      </a:solidFill>
                    </a:lnT>
                    <a:lnB w="9525" cap="flat" cmpd="sng" algn="ctr">
                      <a:solidFill>
                        <a:srgbClr val="1C2430"/>
                      </a:solidFill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1" i="0" spc="140" cap="all">
                          <a:solidFill>
                            <a:srgbClr val="EDE7DB"/>
                          </a:solidFill>
                          <a:latin typeface="Calibri"/>
                          <a:ea typeface="Calibri"/>
                          <a:cs typeface="Calibri"/>
                        </a:rPr>
                        <a:t>Descripción</a:t>
                      </a:r>
                    </a:p>
                  </a:txBody>
                  <a:tcPr anchor="ctr" marL="82296" marR="82296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1C2430"/>
                      </a:solidFill>
                    </a:lnT>
                    <a:lnB w="9525" cap="flat" cmpd="sng" algn="ctr">
                      <a:solidFill>
                        <a:srgbClr val="1C2430"/>
                      </a:solidFill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1" i="0" spc="140" cap="all">
                          <a:solidFill>
                            <a:srgbClr val="EDE7DB"/>
                          </a:solidFill>
                          <a:latin typeface="Calibri"/>
                          <a:ea typeface="Calibri"/>
                          <a:cs typeface="Calibri"/>
                        </a:rPr>
                        <a:t>Asignación general</a:t>
                      </a:r>
                    </a:p>
                  </a:txBody>
                  <a:tcPr anchor="ctr" marL="82296" marR="82296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1C2430"/>
                      </a:solidFill>
                    </a:lnT>
                    <a:lnB w="9525" cap="flat" cmpd="sng" algn="ctr">
                      <a:solidFill>
                        <a:srgbClr val="1C2430"/>
                      </a:solidFill>
                    </a:lnB>
                    <a:solidFill>
                      <a:srgbClr val="1C243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1" i="0">
                          <a:solidFill>
                            <a:srgbClr val="1C2430"/>
                          </a:solidFill>
                          <a:latin typeface="Georgia"/>
                          <a:ea typeface="Georgia"/>
                          <a:cs typeface="Georgia"/>
                        </a:rPr>
                        <a:t>Predial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Adquisición tardía o costosa; expropiaciones que retrasan la obra.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Compartido — concesionario hasta el 120 % del valor estimado; la ANI expropia.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1" i="0">
                          <a:solidFill>
                            <a:srgbClr val="1C2430"/>
                          </a:solidFill>
                          <a:latin typeface="Georgia"/>
                          <a:ea typeface="Georgia"/>
                          <a:cs typeface="Georgia"/>
                        </a:rPr>
                        <a:t>Ambiental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Licencias, estudios incompletos y hallazgos no previstos en campo.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Compartido — según el origen del retraso y lo pactado.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1" i="0">
                          <a:solidFill>
                            <a:srgbClr val="1C2430"/>
                          </a:solidFill>
                          <a:latin typeface="Georgia"/>
                          <a:ea typeface="Georgia"/>
                          <a:cs typeface="Georgia"/>
                        </a:rPr>
                        <a:t>Social y consulta previa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Consultas con comunidades, oposición local y protestas.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Compartido — según cada minuta contractual.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1" i="0">
                          <a:solidFill>
                            <a:srgbClr val="1C2430"/>
                          </a:solidFill>
                          <a:latin typeface="Georgia"/>
                          <a:ea typeface="Georgia"/>
                          <a:cs typeface="Georgia"/>
                        </a:rPr>
                        <a:t>Geológico y de diseño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Subsuelo distinto del previsto; trazados inviables.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Concesionario — asume el diseño definitivo (CONPES, 2013).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1" i="0">
                          <a:solidFill>
                            <a:srgbClr val="1C2430"/>
                          </a:solidFill>
                          <a:latin typeface="Georgia"/>
                          <a:ea typeface="Georgia"/>
                          <a:cs typeface="Georgia"/>
                        </a:rPr>
                        <a:t>Construcción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Retrasos, sobrecostos e incumplimiento del cronograma.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Principalmente el concesionario.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1" i="0">
                          <a:solidFill>
                            <a:srgbClr val="1C2430"/>
                          </a:solidFill>
                          <a:latin typeface="Georgia"/>
                          <a:ea typeface="Georgia"/>
                          <a:cs typeface="Georgia"/>
                        </a:rPr>
                        <a:t>Cierre financiero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No obtener el crédito, iliquidez del mercado, costo de la deuda.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Concesionario — salvo evento eximente reconocido.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1" i="0">
                          <a:solidFill>
                            <a:srgbClr val="1C2430"/>
                          </a:solidFill>
                          <a:latin typeface="Georgia"/>
                          <a:ea typeface="Georgia"/>
                          <a:cs typeface="Georgia"/>
                        </a:rPr>
                        <a:t>Tráfico y recaudo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Menor tráfico que el proyectado o imposibilidad de cobrar peajes.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Compartido.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1" i="0">
                          <a:solidFill>
                            <a:srgbClr val="1C2430"/>
                          </a:solidFill>
                          <a:latin typeface="Georgia"/>
                          <a:ea typeface="Georgia"/>
                          <a:cs typeface="Georgia"/>
                        </a:rPr>
                        <a:t>Fiscal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Vigencias futuras y pasivos contingentes sobre el presupuesto.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Estado.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1" i="0">
                          <a:solidFill>
                            <a:srgbClr val="1C2430"/>
                          </a:solidFill>
                          <a:latin typeface="Georgia"/>
                          <a:ea typeface="Georgia"/>
                          <a:cs typeface="Georgia"/>
                        </a:rPr>
                        <a:t>Jurídico e institucional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Arbitrajes, nulidades por corrupción, cambios normativos.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Compartido — con exposición fiscal del Estado.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1" i="0">
                          <a:solidFill>
                            <a:srgbClr val="1C2430"/>
                          </a:solidFill>
                          <a:latin typeface="Georgia"/>
                          <a:ea typeface="Georgia"/>
                          <a:cs typeface="Georgia"/>
                        </a:rPr>
                        <a:t>Operación y seguridad vial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Mantenimiento, niveles de servicio y siniestralidad.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Concesionario — la retribución depende del nivel de servicio.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escud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3247" y="402336"/>
            <a:ext cx="555901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8" y="457200"/>
            <a:ext cx="97776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 cap="all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Balance del programa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9777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2430"/>
                </a:solidFill>
                <a:latin typeface="Georgia"/>
                <a:ea typeface="Georgia"/>
                <a:cs typeface="Georgia"/>
              </a:rPr>
              <a:t>Qué se materializó y qué se aprendió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49808" y="1316736"/>
            <a:ext cx="10692079" cy="0"/>
          </a:xfrm>
          <a:prstGeom prst="line">
            <a:avLst/>
          </a:prstGeom>
          <a:ln w="12700">
            <a:solidFill>
              <a:srgbClr val="D9D4C8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749808" y="1316736"/>
            <a:ext cx="1234440" cy="0"/>
          </a:xfrm>
          <a:prstGeom prst="line">
            <a:avLst/>
          </a:prstGeom>
          <a:ln w="25400">
            <a:solidFill>
              <a:srgbClr val="8C7A5B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749808" y="6309360"/>
            <a:ext cx="10692079" cy="0"/>
          </a:xfrm>
          <a:prstGeom prst="line">
            <a:avLst/>
          </a:prstGeom>
          <a:ln w="9525">
            <a:solidFill>
              <a:srgbClr val="E7E3DA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749808" y="6419088"/>
            <a:ext cx="80190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Concesiones viales — Cuarta Generación  ·  Universidad Nacional de Colombia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44607" y="64190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C7A5B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719072"/>
            <a:ext cx="50625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60" cap="all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Riesgos materializados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029968"/>
            <a:ext cx="5062575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—  </a:t>
            </a:r>
            <a:r>
              <a:rPr sz="11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Ambiental y social. </a:t>
            </a:r>
            <a:r>
              <a:rPr sz="115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En la Perimetral del Oriente de Cundinamarca aparecieron acuíferos no contemplados que obligaron a revisar el trazado.</a:t>
            </a:r>
          </a:p>
          <a:p>
            <a:pPr algn="l" marL="237744" indent="-237744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 i="0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—  </a:t>
            </a:r>
            <a:r>
              <a:rPr sz="11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Financiero. </a:t>
            </a:r>
            <a:r>
              <a:rPr sz="115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El caso Odebrecht deterioró la confianza de los financiadores y dificultó el cierre financiero; algunos proyectos llegaron a la terminación anticipada.</a:t>
            </a:r>
          </a:p>
          <a:p>
            <a:pPr algn="l" marL="237744" indent="-237744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 i="0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—  </a:t>
            </a:r>
            <a:r>
              <a:rPr sz="11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Jurídico y de corrupción. </a:t>
            </a:r>
            <a:r>
              <a:rPr sz="115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Ruta del Sol II mostró el efecto de la corrupción sobre la seguridad jurídica y la duración de los litigios.</a:t>
            </a:r>
          </a:p>
          <a:p>
            <a:pPr algn="l" marL="237744" indent="-237744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 i="0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—  </a:t>
            </a:r>
            <a:r>
              <a:rPr sz="11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Tráfico y recaudo. </a:t>
            </a:r>
            <a:r>
              <a:rPr sz="115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Proyecciones optimistas, protestas en peajes y condiciones de seguridad redujeron los ingresos esperados.</a:t>
            </a:r>
          </a:p>
          <a:p>
            <a:pPr algn="l" marL="237744" indent="-237744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 i="0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—  </a:t>
            </a:r>
            <a:r>
              <a:rPr sz="11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Fiscal. </a:t>
            </a:r>
            <a:r>
              <a:rPr sz="115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Compensaciones, arbitrajes y liquidaciones trasladaron mayores compromisos económicos al Estado.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5847.5" y="1737360"/>
            <a:ext cx="0.0" cy="3127248"/>
          </a:xfrm>
          <a:prstGeom prst="line">
            <a:avLst/>
          </a:prstGeom>
          <a:ln w="9525">
            <a:solidFill>
              <a:srgbClr val="D9D4C8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6379311" y="1719072"/>
            <a:ext cx="50625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60" cap="all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Medidas de mitigación y lecciones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9311" y="2029968"/>
            <a:ext cx="5062575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—  </a:t>
            </a:r>
            <a:r>
              <a:rPr sz="11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Mejorar los estudios previos: </a:t>
            </a:r>
            <a:r>
              <a:rPr sz="115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información ambiental, predial y geotécnica suficiente antes de construir.</a:t>
            </a:r>
          </a:p>
          <a:p>
            <a:pPr algn="l" marL="237744" indent="-237744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 i="0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—  </a:t>
            </a:r>
            <a:r>
              <a:rPr sz="11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Gestionar predios y licencias con anticipación: </a:t>
            </a:r>
            <a:r>
              <a:rPr sz="115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que los trámites no se conviertan en el obstáculo de la obra.</a:t>
            </a:r>
          </a:p>
          <a:p>
            <a:pPr algn="l" marL="237744" indent="-237744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 i="0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—  </a:t>
            </a:r>
            <a:r>
              <a:rPr sz="11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Fortalecer el cierre financiero: </a:t>
            </a:r>
            <a:r>
              <a:rPr sz="115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fuentes de financiación verificadas y proyecciones de ingreso realistas.</a:t>
            </a:r>
          </a:p>
          <a:p>
            <a:pPr algn="l" marL="237744" indent="-237744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 i="0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—  </a:t>
            </a:r>
            <a:r>
              <a:rPr sz="11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Considerar el contexto social: </a:t>
            </a:r>
            <a:r>
              <a:rPr sz="115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incorporar las condiciones sociales y de seguridad de cada corredor al estimar tráfico y recaudo.</a:t>
            </a:r>
          </a:p>
          <a:p>
            <a:pPr algn="l" marL="237744" indent="-237744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 i="0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—  </a:t>
            </a:r>
            <a:r>
              <a:rPr sz="11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Reforzar transparencia y control: </a:t>
            </a:r>
            <a:r>
              <a:rPr sz="115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contratación y supervisión que reduzcan el riesgo jurídico y den confianza al financiador.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5120640"/>
            <a:ext cx="10692079" cy="1078992"/>
          </a:xfrm>
          <a:prstGeom prst="rect">
            <a:avLst/>
          </a:prstGeom>
          <a:solidFill>
            <a:srgbClr val="1C24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5266944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60" cap="all">
                <a:solidFill>
                  <a:srgbClr val="B9A98B"/>
                </a:solidFill>
                <a:latin typeface="Calibri"/>
                <a:ea typeface="Calibri"/>
                <a:cs typeface="Calibri"/>
              </a:rPr>
              <a:t>Conclusión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33856" y="5522976"/>
            <a:ext cx="822960" cy="0"/>
          </a:xfrm>
          <a:prstGeom prst="line">
            <a:avLst/>
          </a:prstGeom>
          <a:ln w="15875">
            <a:solidFill>
              <a:srgbClr val="8C7A5B"/>
            </a:solidFill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2761488" y="5248656"/>
            <a:ext cx="822319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DE7DB"/>
                </a:solidFill>
                <a:latin typeface="Georgia"/>
                <a:ea typeface="Georgia"/>
                <a:cs typeface="Georgia"/>
              </a:rPr>
              <a:t>La 4G consolidó un modelo más ordenado, mejor financiado y con riesgos más claros; pero su desempeño dependió de la calidad de la estructuración inicial. Mejores estudios, una distribución realista de riesgos y financiación asegurada son la condición para las próximas generaciones.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505456" y="5303520"/>
            <a:ext cx="0" cy="713232"/>
          </a:xfrm>
          <a:prstGeom prst="line">
            <a:avLst/>
          </a:prstGeom>
          <a:ln w="9525">
            <a:solidFill>
              <a:srgbClr val="46505E"/>
            </a:solidFill>
          </a:ln>
          <a:effectLst/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Concesiones Viales – Cuarta Generación</dc:title>
  <dc:subject>Construcción de Infraestructura Vial – Universidad Nacional de Colombia</dc:subject>
  <dc:creator>Juan Camilo Rivas Ceballos; Jimmy Alejandro Romero Amaya; Santiago Ospina Porras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