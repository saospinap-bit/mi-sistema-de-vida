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366" r:id="rId3"/>
    <p:sldId id="367" r:id="rId4"/>
    <p:sldId id="368" r:id="rId5"/>
    <p:sldId id="369" r:id="rId6"/>
    <p:sldId id="370" r:id="rId7"/>
    <p:sldId id="371" r:id="rId8"/>
    <p:sldId id="372" r:id="rId9"/>
    <p:sldId id="373" r:id="rId10"/>
    <p:sldId id="374" r:id="rId1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9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C2A305-29E3-43E4-8972-07C402EF9AD2}" v="65" dt="2026-06-08T21:13:52.77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54" y="58"/>
      </p:cViewPr>
      <p:guideLst>
        <p:guide orient="horz" pos="2795"/>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B0437C-AE41-4BDC-95EF-CB7DB6D41172}" type="datetimeFigureOut">
              <a:rPr lang="es-CO" smtClean="0"/>
              <a:t>8/06/2026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A6EEE7-472F-4CE6-AAEC-E7F55F52CEB1}" type="slidenum">
              <a:rPr lang="es-CO" smtClean="0"/>
              <a:t>‹Nº›</a:t>
            </a:fld>
            <a:endParaRPr lang="es-CO"/>
          </a:p>
        </p:txBody>
      </p:sp>
    </p:spTree>
    <p:extLst>
      <p:ext uri="{BB962C8B-B14F-4D97-AF65-F5344CB8AC3E}">
        <p14:creationId xmlns:p14="http://schemas.microsoft.com/office/powerpoint/2010/main" val="3393417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D8A6EEE7-472F-4CE6-AAEC-E7F55F52CEB1}" type="slidenum">
              <a:rPr lang="es-CO" smtClean="0"/>
              <a:t>1</a:t>
            </a:fld>
            <a:endParaRPr lang="es-CO"/>
          </a:p>
        </p:txBody>
      </p:sp>
    </p:spTree>
    <p:extLst>
      <p:ext uri="{BB962C8B-B14F-4D97-AF65-F5344CB8AC3E}">
        <p14:creationId xmlns:p14="http://schemas.microsoft.com/office/powerpoint/2010/main" val="3323387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DA2F3-6E2B-D816-B5E7-10B7D1987B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547CF0-675A-1389-E02E-67D73865133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CB694C7-CDE9-DBE9-6688-4F372649D9B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59C23E2C-65C5-AF1E-907D-EECBDAD93AB3}"/>
              </a:ext>
            </a:extLst>
          </p:cNvPr>
          <p:cNvSpPr>
            <a:spLocks noGrp="1"/>
          </p:cNvSpPr>
          <p:nvPr>
            <p:ph type="sldNum" sz="quarter" idx="5"/>
          </p:nvPr>
        </p:nvSpPr>
        <p:spPr/>
        <p:txBody>
          <a:bodyPr/>
          <a:lstStyle/>
          <a:p>
            <a:fld id="{D8A6EEE7-472F-4CE6-AAEC-E7F55F52CEB1}" type="slidenum">
              <a:rPr lang="es-CO" smtClean="0"/>
              <a:t>2</a:t>
            </a:fld>
            <a:endParaRPr lang="es-CO"/>
          </a:p>
        </p:txBody>
      </p:sp>
    </p:spTree>
    <p:extLst>
      <p:ext uri="{BB962C8B-B14F-4D97-AF65-F5344CB8AC3E}">
        <p14:creationId xmlns:p14="http://schemas.microsoft.com/office/powerpoint/2010/main" val="668968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95D11-C8E7-79F4-AE61-86B50ED332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2EB73F-F4C4-DED3-C935-25E12057D82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6823627-0DF6-5D0E-C145-94968F828F6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350B0493-59D2-F730-2A2A-197E79CB695C}"/>
              </a:ext>
            </a:extLst>
          </p:cNvPr>
          <p:cNvSpPr>
            <a:spLocks noGrp="1"/>
          </p:cNvSpPr>
          <p:nvPr>
            <p:ph type="sldNum" sz="quarter" idx="5"/>
          </p:nvPr>
        </p:nvSpPr>
        <p:spPr/>
        <p:txBody>
          <a:bodyPr/>
          <a:lstStyle/>
          <a:p>
            <a:fld id="{D8A6EEE7-472F-4CE6-AAEC-E7F55F52CEB1}" type="slidenum">
              <a:rPr lang="es-CO" smtClean="0"/>
              <a:t>3</a:t>
            </a:fld>
            <a:endParaRPr lang="es-CO"/>
          </a:p>
        </p:txBody>
      </p:sp>
    </p:spTree>
    <p:extLst>
      <p:ext uri="{BB962C8B-B14F-4D97-AF65-F5344CB8AC3E}">
        <p14:creationId xmlns:p14="http://schemas.microsoft.com/office/powerpoint/2010/main" val="1477080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EF971-0710-3972-BA37-C232013350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E63B7EE-EDB5-99BF-651E-D343E46387E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FB9B6E2-1A88-26F6-B838-F6F5987A033F}"/>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435F7221-1B94-4094-74D5-8BBC3B66C52D}"/>
              </a:ext>
            </a:extLst>
          </p:cNvPr>
          <p:cNvSpPr>
            <a:spLocks noGrp="1"/>
          </p:cNvSpPr>
          <p:nvPr>
            <p:ph type="sldNum" sz="quarter" idx="5"/>
          </p:nvPr>
        </p:nvSpPr>
        <p:spPr/>
        <p:txBody>
          <a:bodyPr/>
          <a:lstStyle/>
          <a:p>
            <a:fld id="{D8A6EEE7-472F-4CE6-AAEC-E7F55F52CEB1}" type="slidenum">
              <a:rPr lang="es-CO" smtClean="0"/>
              <a:t>4</a:t>
            </a:fld>
            <a:endParaRPr lang="es-CO"/>
          </a:p>
        </p:txBody>
      </p:sp>
    </p:spTree>
    <p:extLst>
      <p:ext uri="{BB962C8B-B14F-4D97-AF65-F5344CB8AC3E}">
        <p14:creationId xmlns:p14="http://schemas.microsoft.com/office/powerpoint/2010/main" val="296997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DDD4D-D9EA-546C-2813-A7A7684799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3F9D2E-D384-854D-043E-02454E0EA0B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22DAE75-679B-FAAD-E46C-2FA8E3B1A7F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6CFD386C-7F69-1008-76B1-781CF9D0FAE4}"/>
              </a:ext>
            </a:extLst>
          </p:cNvPr>
          <p:cNvSpPr>
            <a:spLocks noGrp="1"/>
          </p:cNvSpPr>
          <p:nvPr>
            <p:ph type="sldNum" sz="quarter" idx="5"/>
          </p:nvPr>
        </p:nvSpPr>
        <p:spPr/>
        <p:txBody>
          <a:bodyPr/>
          <a:lstStyle/>
          <a:p>
            <a:fld id="{D8A6EEE7-472F-4CE6-AAEC-E7F55F52CEB1}" type="slidenum">
              <a:rPr lang="es-CO" smtClean="0"/>
              <a:t>5</a:t>
            </a:fld>
            <a:endParaRPr lang="es-CO"/>
          </a:p>
        </p:txBody>
      </p:sp>
    </p:spTree>
    <p:extLst>
      <p:ext uri="{BB962C8B-B14F-4D97-AF65-F5344CB8AC3E}">
        <p14:creationId xmlns:p14="http://schemas.microsoft.com/office/powerpoint/2010/main" val="707626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46599-FB10-8205-ABAC-12892B47CB2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AD12C40-0336-724B-6AEB-6435CDAB3E0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46A17FD-717D-C55E-C82F-E5AF109A893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13E62A1-4087-4D39-E885-8C5DA801E329}"/>
              </a:ext>
            </a:extLst>
          </p:cNvPr>
          <p:cNvSpPr>
            <a:spLocks noGrp="1"/>
          </p:cNvSpPr>
          <p:nvPr>
            <p:ph type="sldNum" sz="quarter" idx="5"/>
          </p:nvPr>
        </p:nvSpPr>
        <p:spPr/>
        <p:txBody>
          <a:bodyPr/>
          <a:lstStyle/>
          <a:p>
            <a:fld id="{D8A6EEE7-472F-4CE6-AAEC-E7F55F52CEB1}" type="slidenum">
              <a:rPr lang="es-CO" smtClean="0"/>
              <a:t>6</a:t>
            </a:fld>
            <a:endParaRPr lang="es-CO"/>
          </a:p>
        </p:txBody>
      </p:sp>
    </p:spTree>
    <p:extLst>
      <p:ext uri="{BB962C8B-B14F-4D97-AF65-F5344CB8AC3E}">
        <p14:creationId xmlns:p14="http://schemas.microsoft.com/office/powerpoint/2010/main" val="3377596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F19F4-B9AC-26B1-184A-6D2CD59825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36B0C4-0F52-DF16-A5C2-6B3075D5BC6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95D7908-A1C7-FEA9-4592-945E0FB6888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012F7FC-514F-C892-324A-78DE70197D26}"/>
              </a:ext>
            </a:extLst>
          </p:cNvPr>
          <p:cNvSpPr>
            <a:spLocks noGrp="1"/>
          </p:cNvSpPr>
          <p:nvPr>
            <p:ph type="sldNum" sz="quarter" idx="5"/>
          </p:nvPr>
        </p:nvSpPr>
        <p:spPr/>
        <p:txBody>
          <a:bodyPr/>
          <a:lstStyle/>
          <a:p>
            <a:fld id="{D8A6EEE7-472F-4CE6-AAEC-E7F55F52CEB1}" type="slidenum">
              <a:rPr lang="es-CO" smtClean="0"/>
              <a:t>7</a:t>
            </a:fld>
            <a:endParaRPr lang="es-CO"/>
          </a:p>
        </p:txBody>
      </p:sp>
    </p:spTree>
    <p:extLst>
      <p:ext uri="{BB962C8B-B14F-4D97-AF65-F5344CB8AC3E}">
        <p14:creationId xmlns:p14="http://schemas.microsoft.com/office/powerpoint/2010/main" val="1467623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EF976-5E54-908B-1E95-C956D578E69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C74DD11-0DA8-F9E5-3773-8874FB1E543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BACE7D4-9A0D-AC09-F5E2-5A9732869B50}"/>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4C4D1E68-55EE-82D0-D890-3A00A8E64C6D}"/>
              </a:ext>
            </a:extLst>
          </p:cNvPr>
          <p:cNvSpPr>
            <a:spLocks noGrp="1"/>
          </p:cNvSpPr>
          <p:nvPr>
            <p:ph type="sldNum" sz="quarter" idx="5"/>
          </p:nvPr>
        </p:nvSpPr>
        <p:spPr/>
        <p:txBody>
          <a:bodyPr/>
          <a:lstStyle/>
          <a:p>
            <a:fld id="{D8A6EEE7-472F-4CE6-AAEC-E7F55F52CEB1}" type="slidenum">
              <a:rPr lang="es-CO" smtClean="0"/>
              <a:t>8</a:t>
            </a:fld>
            <a:endParaRPr lang="es-CO"/>
          </a:p>
        </p:txBody>
      </p:sp>
    </p:spTree>
    <p:extLst>
      <p:ext uri="{BB962C8B-B14F-4D97-AF65-F5344CB8AC3E}">
        <p14:creationId xmlns:p14="http://schemas.microsoft.com/office/powerpoint/2010/main" val="1687675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25BB2-C08E-4107-3ECA-69AB4200AF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688ED2-5A92-2C4C-CFA0-77835BB159D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3EA1B26-335F-C0C4-1C73-59DEC0296A6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FE02760E-0BAE-FAA6-691C-09E881B19385}"/>
              </a:ext>
            </a:extLst>
          </p:cNvPr>
          <p:cNvSpPr>
            <a:spLocks noGrp="1"/>
          </p:cNvSpPr>
          <p:nvPr>
            <p:ph type="sldNum" sz="quarter" idx="5"/>
          </p:nvPr>
        </p:nvSpPr>
        <p:spPr/>
        <p:txBody>
          <a:bodyPr/>
          <a:lstStyle/>
          <a:p>
            <a:fld id="{D8A6EEE7-472F-4CE6-AAEC-E7F55F52CEB1}" type="slidenum">
              <a:rPr lang="es-CO" smtClean="0"/>
              <a:t>9</a:t>
            </a:fld>
            <a:endParaRPr lang="es-CO"/>
          </a:p>
        </p:txBody>
      </p:sp>
    </p:spTree>
    <p:extLst>
      <p:ext uri="{BB962C8B-B14F-4D97-AF65-F5344CB8AC3E}">
        <p14:creationId xmlns:p14="http://schemas.microsoft.com/office/powerpoint/2010/main" val="1604839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A5975-69B5-C478-E58D-F678E6BCBC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FD63B6-4C26-86E6-EC7E-F2456DCADCD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688A5DC-A84B-50B0-B697-DFE4CD0CCA97}"/>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8B44B9A2-A68E-724A-6C26-E7D5B827D535}"/>
              </a:ext>
            </a:extLst>
          </p:cNvPr>
          <p:cNvSpPr>
            <a:spLocks noGrp="1"/>
          </p:cNvSpPr>
          <p:nvPr>
            <p:ph type="sldNum" sz="quarter" idx="5"/>
          </p:nvPr>
        </p:nvSpPr>
        <p:spPr/>
        <p:txBody>
          <a:bodyPr/>
          <a:lstStyle/>
          <a:p>
            <a:fld id="{D8A6EEE7-472F-4CE6-AAEC-E7F55F52CEB1}" type="slidenum">
              <a:rPr lang="es-CO" smtClean="0"/>
              <a:t>10</a:t>
            </a:fld>
            <a:endParaRPr lang="es-CO"/>
          </a:p>
        </p:txBody>
      </p:sp>
    </p:spTree>
    <p:extLst>
      <p:ext uri="{BB962C8B-B14F-4D97-AF65-F5344CB8AC3E}">
        <p14:creationId xmlns:p14="http://schemas.microsoft.com/office/powerpoint/2010/main" val="2713258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BB19CD-E911-B0F2-530E-5D9375A5AA3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69EEBBA-69EA-0D69-8831-59737AE804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EEEEA375-D1D1-1A5C-AC4D-881D52103A71}"/>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E4DCBFF0-0A41-A06E-1558-5AB183EE8A2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BC47017-7517-15B0-8AC3-4CAAA38C97F5}"/>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708897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C2EBE9-8B51-21E7-16CA-0C9977B0032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9247366-C209-7145-A818-B503EEB22EA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A6F8759-5D6F-AD54-2713-084500C128BA}"/>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1F1619DE-C52D-9F91-E824-B7A86E12890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4A99F7C-ADEF-63E6-6C8A-FD119EA06682}"/>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511277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78F2EE-BC11-DD98-EB05-5EF76ADE415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AB02C83-C729-26E9-8AC2-1837FF4B92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89FC7B7-3F71-ED4F-725B-51C02EEEC377}"/>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CB4E812A-295F-A672-163A-BC07A5AB52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18BC3DE-8655-C666-6566-7D5F9A0015D1}"/>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031682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ABB655-5854-2AA5-1DF6-3E456D279E1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F610DDA-1647-B13D-0A45-BAAFFD268A3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514EAF04-C88F-2DCE-A801-1CB5A22B4E3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C9748B92-0590-C520-E6C0-A33728867F75}"/>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6" name="Marcador de pie de página 5">
            <a:extLst>
              <a:ext uri="{FF2B5EF4-FFF2-40B4-BE49-F238E27FC236}">
                <a16:creationId xmlns:a16="http://schemas.microsoft.com/office/drawing/2014/main" id="{8DDB60A8-225C-647C-42F2-33C70D43DA9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9C9A180-A62A-641E-74F5-2CF40D06B640}"/>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127538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ADD9A6-5833-58F1-BB87-B6C38EE7C32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4F9806E-5A6E-3419-3EDE-BEDEB48DDE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BF328E8-1160-C649-B3FE-9FCF1C34572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E4FF3543-0628-1AB3-1A3F-9C9A3C1397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1B1D106-8961-F808-7B8D-B97A3F6BF8A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FA2ECA66-96CF-67AA-387A-86328EF565AB}"/>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8" name="Marcador de pie de página 7">
            <a:extLst>
              <a:ext uri="{FF2B5EF4-FFF2-40B4-BE49-F238E27FC236}">
                <a16:creationId xmlns:a16="http://schemas.microsoft.com/office/drawing/2014/main" id="{5E9FC931-003E-465D-267B-D9E7764953C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EE05E26D-1527-B216-F6BB-715BE7A4BEE1}"/>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40526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E9B5FA-A6C9-A747-56CC-B3FBDB85826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2BE98B96-E616-07C8-0745-D28057A0C2F0}"/>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4" name="Marcador de pie de página 3">
            <a:extLst>
              <a:ext uri="{FF2B5EF4-FFF2-40B4-BE49-F238E27FC236}">
                <a16:creationId xmlns:a16="http://schemas.microsoft.com/office/drawing/2014/main" id="{FC0F952F-25F5-13AC-44B8-FBA9DFDB0B4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8A35729-3AAC-0C3A-2D57-7AB77F7AA392}"/>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032565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73AB42E-52AF-F9B1-90D6-0EBDF59A00A2}"/>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3" name="Marcador de pie de página 2">
            <a:extLst>
              <a:ext uri="{FF2B5EF4-FFF2-40B4-BE49-F238E27FC236}">
                <a16:creationId xmlns:a16="http://schemas.microsoft.com/office/drawing/2014/main" id="{D242C9A3-3B2E-5D34-76BB-D8CFC0E6E791}"/>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B7EE9D03-2235-3ED9-737B-C8661DC510D0}"/>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758440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162848-2500-FA0F-93F7-BED9A8853ED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105934F-635D-F93C-249C-AB809CA13F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E46956CF-0394-7DB8-6E58-315EA22A03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1DAB6DB-F165-836F-1FA4-2F2C06F83BEE}"/>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6" name="Marcador de pie de página 5">
            <a:extLst>
              <a:ext uri="{FF2B5EF4-FFF2-40B4-BE49-F238E27FC236}">
                <a16:creationId xmlns:a16="http://schemas.microsoft.com/office/drawing/2014/main" id="{354E0F44-C4EC-3DC9-F9B6-829BE2269C2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8328E6A-D04A-E65A-8885-DA4F22C6D086}"/>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53760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C7D5C2-3909-B7BD-45D1-106612B05D3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8904F900-3ADA-0358-61E1-78D749240E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B717034-BC13-4886-634C-25DB59FEA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5DB243A-1BEF-A018-DB22-CBA31514EAA9}"/>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6" name="Marcador de pie de página 5">
            <a:extLst>
              <a:ext uri="{FF2B5EF4-FFF2-40B4-BE49-F238E27FC236}">
                <a16:creationId xmlns:a16="http://schemas.microsoft.com/office/drawing/2014/main" id="{6F2C932B-0613-BF74-E295-D603D2791FD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EBBB783-98E5-58AA-2CFC-2744FBC3A5F3}"/>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119119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582FB3-EF9E-24AE-9564-835EA22274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83BE044F-EBCD-FE69-89F3-486DBBC9518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9A5F9B8-C7FD-27D1-4600-088BF070AC13}"/>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DBBE6F67-03AA-6645-CC3E-1F8988A647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4F923CF-2BA0-80EC-BE54-EF7F924DB5DA}"/>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070114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91572B0-CB40-AAEA-2DC0-85A871F6FA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269E3F9-7BB0-259D-46CB-8646D0865E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4B24975-E789-BABC-701A-EC573D86479C}"/>
              </a:ext>
            </a:extLst>
          </p:cNvPr>
          <p:cNvSpPr>
            <a:spLocks noGrp="1"/>
          </p:cNvSpPr>
          <p:nvPr>
            <p:ph type="dt" sz="half" idx="10"/>
          </p:nvPr>
        </p:nvSpPr>
        <p:spPr/>
        <p:txBody>
          <a:body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B27A25A5-D295-138B-989A-D2E6DCE19E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433266A-E9CB-D1E6-7843-06547CF59D9C}"/>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631167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99A2319-155E-97F0-ED12-AAD870766D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4BFD99D-2FDA-2A10-389A-6E3B59B9C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D20BDDA-9332-58A4-A090-7D4ABCC1E8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0CB4A1-8DD3-4FE5-BE8A-895868F06B5B}" type="datetimeFigureOut">
              <a:rPr lang="es-CO" smtClean="0"/>
              <a:t>8/06/2026</a:t>
            </a:fld>
            <a:endParaRPr lang="es-CO"/>
          </a:p>
        </p:txBody>
      </p:sp>
      <p:sp>
        <p:nvSpPr>
          <p:cNvPr id="5" name="Marcador de pie de página 4">
            <a:extLst>
              <a:ext uri="{FF2B5EF4-FFF2-40B4-BE49-F238E27FC236}">
                <a16:creationId xmlns:a16="http://schemas.microsoft.com/office/drawing/2014/main" id="{3DFD1646-8240-5B62-BFEC-43904A46FE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CE4881-9413-20FB-44BD-B0774D5698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BA82CD-C19C-47DE-B7FA-9BD926D7F90A}" type="slidenum">
              <a:rPr lang="es-CO" smtClean="0"/>
              <a:t>‹Nº›</a:t>
            </a:fld>
            <a:endParaRPr lang="es-CO"/>
          </a:p>
        </p:txBody>
      </p:sp>
    </p:spTree>
    <p:extLst>
      <p:ext uri="{BB962C8B-B14F-4D97-AF65-F5344CB8AC3E}">
        <p14:creationId xmlns:p14="http://schemas.microsoft.com/office/powerpoint/2010/main" val="1205133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mailto:sladinod@unal.edu.co"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emf"/><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0.emf"/><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descr="Se conmemoran 150 años de la Universidad Nacional de Colombia">
            <a:extLst>
              <a:ext uri="{FF2B5EF4-FFF2-40B4-BE49-F238E27FC236}">
                <a16:creationId xmlns:a16="http://schemas.microsoft.com/office/drawing/2014/main" id="{C0469491-2588-22AA-6D65-E300CCD4BE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5273" y="3738903"/>
            <a:ext cx="4032448" cy="171379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4A992B16-5FA3-E2E3-B79D-90A13624A1F8}"/>
              </a:ext>
            </a:extLst>
          </p:cNvPr>
          <p:cNvSpPr txBox="1"/>
          <p:nvPr/>
        </p:nvSpPr>
        <p:spPr>
          <a:xfrm>
            <a:off x="1906259" y="5605955"/>
            <a:ext cx="3977244" cy="584775"/>
          </a:xfrm>
          <a:prstGeom prst="rect">
            <a:avLst/>
          </a:prstGeom>
          <a:noFill/>
        </p:spPr>
        <p:txBody>
          <a:bodyPr wrap="square" rtlCol="0">
            <a:spAutoFit/>
          </a:bodyPr>
          <a:lstStyle/>
          <a:p>
            <a:pPr algn="ctr"/>
            <a:r>
              <a:rPr lang="es-CO" sz="1600">
                <a:latin typeface="Calibri" panose="020F0502020204030204" pitchFamily="34" charset="0"/>
                <a:ea typeface="Calibri" panose="020F0502020204030204" pitchFamily="34" charset="0"/>
                <a:cs typeface="Calibri" panose="020F0502020204030204" pitchFamily="34" charset="0"/>
              </a:rPr>
              <a:t>Departamento de Ingeniería Civil y Agrícola</a:t>
            </a:r>
          </a:p>
          <a:p>
            <a:pPr algn="ctr"/>
            <a:r>
              <a:rPr lang="es-CO" sz="1600">
                <a:latin typeface="Calibri" panose="020F0502020204030204" pitchFamily="34" charset="0"/>
                <a:ea typeface="Calibri" panose="020F0502020204030204" pitchFamily="34" charset="0"/>
                <a:cs typeface="Calibri" panose="020F0502020204030204" pitchFamily="34" charset="0"/>
              </a:rPr>
              <a:t>Facultad Ingeniería pregrado</a:t>
            </a:r>
          </a:p>
        </p:txBody>
      </p:sp>
      <p:sp>
        <p:nvSpPr>
          <p:cNvPr id="4" name="CuadroTexto 3">
            <a:extLst>
              <a:ext uri="{FF2B5EF4-FFF2-40B4-BE49-F238E27FC236}">
                <a16:creationId xmlns:a16="http://schemas.microsoft.com/office/drawing/2014/main" id="{1A374074-2F39-489E-F67C-EC9D32AC688E}"/>
              </a:ext>
            </a:extLst>
          </p:cNvPr>
          <p:cNvSpPr txBox="1"/>
          <p:nvPr/>
        </p:nvSpPr>
        <p:spPr>
          <a:xfrm>
            <a:off x="7903032" y="2857502"/>
            <a:ext cx="3977244" cy="1077218"/>
          </a:xfrm>
          <a:prstGeom prst="rect">
            <a:avLst/>
          </a:prstGeom>
          <a:noFill/>
        </p:spPr>
        <p:txBody>
          <a:bodyPr wrap="square" rtlCol="0">
            <a:spAutoFit/>
          </a:bodyPr>
          <a:lstStyle/>
          <a:p>
            <a:pPr algn="ctr"/>
            <a:r>
              <a:rPr lang="es-CO" sz="3200" b="1" dirty="0">
                <a:latin typeface="Calibri" panose="020F0502020204030204" pitchFamily="34" charset="0"/>
                <a:ea typeface="Calibri" panose="020F0502020204030204" pitchFamily="34" charset="0"/>
                <a:cs typeface="Calibri" panose="020F0502020204030204" pitchFamily="34" charset="0"/>
              </a:rPr>
              <a:t>Diseño estructural</a:t>
            </a:r>
          </a:p>
          <a:p>
            <a:pPr algn="ctr"/>
            <a:r>
              <a:rPr lang="es-CO" sz="3200" b="1" dirty="0">
                <a:latin typeface="Calibri" panose="020F0502020204030204" pitchFamily="34" charset="0"/>
                <a:ea typeface="Calibri" panose="020F0502020204030204" pitchFamily="34" charset="0"/>
                <a:cs typeface="Calibri" panose="020F0502020204030204" pitchFamily="34" charset="0"/>
              </a:rPr>
              <a:t>Concreto reforzado</a:t>
            </a:r>
          </a:p>
        </p:txBody>
      </p:sp>
      <p:sp>
        <p:nvSpPr>
          <p:cNvPr id="5" name="CuadroTexto 4">
            <a:extLst>
              <a:ext uri="{FF2B5EF4-FFF2-40B4-BE49-F238E27FC236}">
                <a16:creationId xmlns:a16="http://schemas.microsoft.com/office/drawing/2014/main" id="{D7326A36-D114-372A-6BB6-6FA285F218E4}"/>
              </a:ext>
            </a:extLst>
          </p:cNvPr>
          <p:cNvSpPr txBox="1"/>
          <p:nvPr/>
        </p:nvSpPr>
        <p:spPr>
          <a:xfrm>
            <a:off x="7903032" y="3969627"/>
            <a:ext cx="3977244" cy="677108"/>
          </a:xfrm>
          <a:prstGeom prst="rect">
            <a:avLst/>
          </a:prstGeom>
          <a:noFill/>
        </p:spPr>
        <p:txBody>
          <a:bodyPr wrap="square" rtlCol="0">
            <a:spAutoFit/>
          </a:bodyPr>
          <a:lstStyle/>
          <a:p>
            <a:pPr algn="ctr"/>
            <a:r>
              <a:rPr lang="es-CO" sz="2000" dirty="0">
                <a:latin typeface="Calibri" panose="020F0502020204030204" pitchFamily="34" charset="0"/>
                <a:ea typeface="Calibri" panose="020F0502020204030204" pitchFamily="34" charset="0"/>
                <a:cs typeface="Calibri" panose="020F0502020204030204" pitchFamily="34" charset="0"/>
              </a:rPr>
              <a:t>ESCALERAS</a:t>
            </a:r>
          </a:p>
          <a:p>
            <a:pPr algn="ctr"/>
            <a:endParaRPr lang="es-CO" dirty="0">
              <a:latin typeface="Calibri" panose="020F0502020204030204" pitchFamily="34" charset="0"/>
              <a:ea typeface="Calibri" panose="020F0502020204030204" pitchFamily="34" charset="0"/>
              <a:cs typeface="Calibri" panose="020F0502020204030204" pitchFamily="34" charset="0"/>
            </a:endParaRPr>
          </a:p>
        </p:txBody>
      </p:sp>
      <p:sp>
        <p:nvSpPr>
          <p:cNvPr id="6" name="CuadroTexto 5">
            <a:extLst>
              <a:ext uri="{FF2B5EF4-FFF2-40B4-BE49-F238E27FC236}">
                <a16:creationId xmlns:a16="http://schemas.microsoft.com/office/drawing/2014/main" id="{B2199F67-1E75-7CB4-2924-41DE7661095B}"/>
              </a:ext>
            </a:extLst>
          </p:cNvPr>
          <p:cNvSpPr txBox="1"/>
          <p:nvPr/>
        </p:nvSpPr>
        <p:spPr>
          <a:xfrm>
            <a:off x="7396316" y="4829949"/>
            <a:ext cx="4649742" cy="1015663"/>
          </a:xfrm>
          <a:prstGeom prst="rect">
            <a:avLst/>
          </a:prstGeom>
          <a:noFill/>
        </p:spPr>
        <p:txBody>
          <a:bodyPr wrap="square" rtlCol="0">
            <a:spAutoFit/>
          </a:bodyPr>
          <a:lstStyle/>
          <a:p>
            <a:pPr algn="ctr"/>
            <a:r>
              <a:rPr lang="es-CO" sz="1400">
                <a:latin typeface="Calibri" panose="020F0502020204030204" pitchFamily="34" charset="0"/>
                <a:ea typeface="Calibri" panose="020F0502020204030204" pitchFamily="34" charset="0"/>
                <a:cs typeface="Calibri" panose="020F0502020204030204" pitchFamily="34" charset="0"/>
              </a:rPr>
              <a:t>Profesor: Ing. Sergio Daniel Ladino Delgado</a:t>
            </a:r>
          </a:p>
          <a:p>
            <a:pPr algn="ctr"/>
            <a:r>
              <a:rPr lang="es-CO" sz="1400">
                <a:latin typeface="Calibri" panose="020F0502020204030204" pitchFamily="34" charset="0"/>
                <a:ea typeface="Calibri" panose="020F0502020204030204" pitchFamily="34" charset="0"/>
                <a:cs typeface="Calibri" panose="020F0502020204030204" pitchFamily="34" charset="0"/>
              </a:rPr>
              <a:t>Correo: </a:t>
            </a:r>
            <a:r>
              <a:rPr lang="es-CO" sz="1400">
                <a:latin typeface="Calibri" panose="020F0502020204030204" pitchFamily="34" charset="0"/>
                <a:ea typeface="Calibri" panose="020F0502020204030204" pitchFamily="34" charset="0"/>
                <a:cs typeface="Calibri" panose="020F0502020204030204" pitchFamily="34" charset="0"/>
                <a:hlinkClick r:id="rId4"/>
              </a:rPr>
              <a:t>sladinod@unal.edu.co</a:t>
            </a:r>
            <a:endParaRPr lang="es-CO" sz="1400">
              <a:latin typeface="Calibri" panose="020F0502020204030204" pitchFamily="34" charset="0"/>
              <a:ea typeface="Calibri" panose="020F0502020204030204" pitchFamily="34" charset="0"/>
              <a:cs typeface="Calibri" panose="020F0502020204030204" pitchFamily="34" charset="0"/>
            </a:endParaRPr>
          </a:p>
          <a:p>
            <a:pPr algn="ctr"/>
            <a:endParaRPr lang="es-CO" sz="1400">
              <a:latin typeface="Calibri" panose="020F0502020204030204" pitchFamily="34" charset="0"/>
              <a:ea typeface="Calibri" panose="020F0502020204030204" pitchFamily="34" charset="0"/>
              <a:cs typeface="Calibri" panose="020F0502020204030204" pitchFamily="34" charset="0"/>
            </a:endParaRPr>
          </a:p>
          <a:p>
            <a:pPr algn="ctr"/>
            <a:endParaRPr lang="es-CO">
              <a:latin typeface="Calibri" panose="020F0502020204030204" pitchFamily="34" charset="0"/>
              <a:ea typeface="Calibri" panose="020F0502020204030204" pitchFamily="34" charset="0"/>
              <a:cs typeface="Calibri" panose="020F0502020204030204" pitchFamily="34" charset="0"/>
            </a:endParaRPr>
          </a:p>
        </p:txBody>
      </p:sp>
      <p:cxnSp>
        <p:nvCxnSpPr>
          <p:cNvPr id="10" name="Conector recto 9">
            <a:extLst>
              <a:ext uri="{FF2B5EF4-FFF2-40B4-BE49-F238E27FC236}">
                <a16:creationId xmlns:a16="http://schemas.microsoft.com/office/drawing/2014/main" id="{65CE1B3B-288A-2DCF-F470-B125B7120439}"/>
              </a:ext>
            </a:extLst>
          </p:cNvPr>
          <p:cNvCxnSpPr>
            <a:cxnSpLocks/>
          </p:cNvCxnSpPr>
          <p:nvPr/>
        </p:nvCxnSpPr>
        <p:spPr>
          <a:xfrm>
            <a:off x="7834998" y="0"/>
            <a:ext cx="0" cy="685800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8143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5E53-A168-E65D-9080-1DD382843A3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C5C9A9B-4F99-08FA-47A5-FE3F38648C55}"/>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ESCALERAS</a:t>
            </a:r>
          </a:p>
        </p:txBody>
      </p:sp>
      <p:pic>
        <p:nvPicPr>
          <p:cNvPr id="3" name="Picture 12" descr="Se conmemoran 150 años de la Universidad Nacional de Colombia">
            <a:extLst>
              <a:ext uri="{FF2B5EF4-FFF2-40B4-BE49-F238E27FC236}">
                <a16:creationId xmlns:a16="http://schemas.microsoft.com/office/drawing/2014/main" id="{A5201A5A-8234-871F-EA80-8C26B6637FE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0FA4618-6F1A-CBCB-BFCB-45A6820F4934}"/>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81EDDE9E-DAA9-AF45-F1D0-8052CB80CF45}"/>
              </a:ext>
            </a:extLst>
          </p:cNvPr>
          <p:cNvSpPr txBox="1"/>
          <p:nvPr/>
        </p:nvSpPr>
        <p:spPr>
          <a:xfrm>
            <a:off x="295635" y="1171288"/>
            <a:ext cx="11282181" cy="400110"/>
          </a:xfrm>
          <a:prstGeom prst="rect">
            <a:avLst/>
          </a:prstGeom>
          <a:noFill/>
        </p:spPr>
        <p:txBody>
          <a:bodyPr wrap="square">
            <a:spAutoFit/>
          </a:bodyPr>
          <a:lstStyle/>
          <a:p>
            <a:r>
              <a:rPr lang="es-CO" sz="2000" b="1" dirty="0"/>
              <a:t>Titulo K NSR-10</a:t>
            </a:r>
          </a:p>
        </p:txBody>
      </p:sp>
      <p:sp>
        <p:nvSpPr>
          <p:cNvPr id="9" name="CuadroTexto 8">
            <a:extLst>
              <a:ext uri="{FF2B5EF4-FFF2-40B4-BE49-F238E27FC236}">
                <a16:creationId xmlns:a16="http://schemas.microsoft.com/office/drawing/2014/main" id="{36E98F5C-1E65-695C-7EF9-E17F14C93E92}"/>
              </a:ext>
            </a:extLst>
          </p:cNvPr>
          <p:cNvSpPr txBox="1"/>
          <p:nvPr/>
        </p:nvSpPr>
        <p:spPr>
          <a:xfrm>
            <a:off x="295635" y="1709408"/>
            <a:ext cx="11683004" cy="3170099"/>
          </a:xfrm>
          <a:prstGeom prst="rect">
            <a:avLst/>
          </a:prstGeom>
          <a:noFill/>
        </p:spPr>
        <p:txBody>
          <a:bodyPr wrap="square" rtlCol="0">
            <a:spAutoFit/>
          </a:bodyPr>
          <a:lstStyle/>
          <a:p>
            <a:r>
              <a:rPr lang="es-CO" sz="2000" b="1" dirty="0">
                <a:solidFill>
                  <a:schemeClr val="accent1"/>
                </a:solidFill>
              </a:rPr>
              <a:t>K.3.8.3.3 Ancho mínimo </a:t>
            </a:r>
            <a:r>
              <a:rPr lang="es-CO" sz="2000" dirty="0"/>
              <a:t>Las escaleras con carga de ocupación superior a 50 personas, deben tener </a:t>
            </a:r>
          </a:p>
          <a:p>
            <a:r>
              <a:rPr lang="es-CO" sz="2000" dirty="0"/>
              <a:t>ancho mínimo de 1.20 m; cuando la carga de ocupación sea inferior a 50, dicho ancho mínimo puede </a:t>
            </a:r>
          </a:p>
          <a:p>
            <a:r>
              <a:rPr lang="es-CO" sz="2000" dirty="0"/>
              <a:t>reducirse a 900 </a:t>
            </a:r>
            <a:r>
              <a:rPr lang="es-CO" sz="2000" dirty="0" err="1"/>
              <a:t>mm.</a:t>
            </a:r>
            <a:r>
              <a:rPr lang="es-CO" sz="2000" dirty="0"/>
              <a:t> Las escaleras en el interior de las viviendas deberán tener un ancho mínimo de 90 cm. </a:t>
            </a:r>
          </a:p>
          <a:p>
            <a:r>
              <a:rPr lang="es-CO" sz="2000" dirty="0"/>
              <a:t>Las escaleras de uso público deberán tener un ancho mínimo de 120cm. Si la separación de los pasamanos </a:t>
            </a:r>
          </a:p>
          <a:p>
            <a:r>
              <a:rPr lang="es-CO" sz="2000" dirty="0"/>
              <a:t>a la pared supera 50 mm, el ancho de la escalera debe incrementarse en igual magnitud.</a:t>
            </a:r>
          </a:p>
          <a:p>
            <a:r>
              <a:rPr lang="es-CO" sz="2000" dirty="0"/>
              <a:t>En edificaciones residenciales unifamiliares sin límite de pisos, o en escaleras privadas interiores de </a:t>
            </a:r>
          </a:p>
          <a:p>
            <a:r>
              <a:rPr lang="es-CO" sz="2000" dirty="0"/>
              <a:t>apartamentos, el ancho mínimo permisible es de 750 </a:t>
            </a:r>
            <a:r>
              <a:rPr lang="es-CO" sz="2000" dirty="0" err="1"/>
              <a:t>mm.</a:t>
            </a:r>
            <a:r>
              <a:rPr lang="es-CO" sz="2000" dirty="0"/>
              <a:t> </a:t>
            </a:r>
          </a:p>
          <a:p>
            <a:endParaRPr lang="es-CO" sz="2000" dirty="0"/>
          </a:p>
        </p:txBody>
      </p:sp>
    </p:spTree>
    <p:extLst>
      <p:ext uri="{BB962C8B-B14F-4D97-AF65-F5344CB8AC3E}">
        <p14:creationId xmlns:p14="http://schemas.microsoft.com/office/powerpoint/2010/main" val="1536117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2077B-9829-787F-F214-7F29AD6525A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3F9F213-510B-FAEE-F81A-E156EDE50058}"/>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ESCALERAS</a:t>
            </a:r>
          </a:p>
        </p:txBody>
      </p:sp>
      <p:pic>
        <p:nvPicPr>
          <p:cNvPr id="3" name="Picture 12" descr="Se conmemoran 150 años de la Universidad Nacional de Colombia">
            <a:extLst>
              <a:ext uri="{FF2B5EF4-FFF2-40B4-BE49-F238E27FC236}">
                <a16:creationId xmlns:a16="http://schemas.microsoft.com/office/drawing/2014/main" id="{40595009-575A-18A7-3C5F-A2408E7325A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2EFD9755-65B8-9E2C-679C-8D8CE09B3BB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8B8059D6-140D-6864-2CA0-154E1C354999}"/>
              </a:ext>
            </a:extLst>
          </p:cNvPr>
          <p:cNvSpPr txBox="1"/>
          <p:nvPr/>
        </p:nvSpPr>
        <p:spPr>
          <a:xfrm>
            <a:off x="0" y="1078239"/>
            <a:ext cx="12278970" cy="5478423"/>
          </a:xfrm>
          <a:prstGeom prst="rect">
            <a:avLst/>
          </a:prstGeom>
          <a:noFill/>
        </p:spPr>
        <p:txBody>
          <a:bodyPr wrap="square" rtlCol="0">
            <a:spAutoFit/>
          </a:bodyPr>
          <a:lstStyle/>
          <a:p>
            <a:r>
              <a:rPr lang="es-CO" sz="2000" b="1" dirty="0">
                <a:solidFill>
                  <a:schemeClr val="accent1"/>
                </a:solidFill>
              </a:rPr>
              <a:t>K.3.8.3.4 Huella y contrahuella </a:t>
            </a:r>
            <a:r>
              <a:rPr lang="es-CO" sz="2000" dirty="0"/>
              <a:t>La huella y contrahuella deben cumplir los requisitos de la NTC 4145 Accesibilidad de la Personas al Medio Físico. Edificios, escaleras, y NTC 4140 Accesibilidad de las Personas al Medio Físico. Edificios, pasillos, corredores y demás requisitos de la NTC 4140 que apliquen así: </a:t>
            </a:r>
          </a:p>
          <a:p>
            <a:endParaRPr lang="es-CO" sz="2000" dirty="0"/>
          </a:p>
          <a:p>
            <a:r>
              <a:rPr lang="es-CO" dirty="0"/>
              <a:t>(a) El ancho mínimo de huella, sin incluir proyecciones, debe ser de 280 mm y la diferencia entre la </a:t>
            </a:r>
          </a:p>
          <a:p>
            <a:r>
              <a:rPr lang="es-CO" dirty="0"/>
              <a:t>huella más ancha y la más angosta, en un trayecto de escaleras, no debe llegar a los 20 </a:t>
            </a:r>
            <a:r>
              <a:rPr lang="es-CO" dirty="0" err="1"/>
              <a:t>mm.</a:t>
            </a:r>
            <a:r>
              <a:rPr lang="es-CO" dirty="0"/>
              <a:t> </a:t>
            </a:r>
          </a:p>
          <a:p>
            <a:r>
              <a:rPr lang="es-CO" dirty="0"/>
              <a:t>(b) La altura de la contrahuella no debe ser menor de 100 mm ni mayor de 180 mm y la diferencia </a:t>
            </a:r>
          </a:p>
          <a:p>
            <a:r>
              <a:rPr lang="es-CO" dirty="0"/>
              <a:t>entre la contrahuella más alta y la más baja, en un trayecto de escaleras, mantenerse por debajo de 20 </a:t>
            </a:r>
            <a:r>
              <a:rPr lang="es-CO" dirty="0" err="1"/>
              <a:t>mm.</a:t>
            </a:r>
            <a:r>
              <a:rPr lang="es-CO" dirty="0"/>
              <a:t> </a:t>
            </a:r>
          </a:p>
          <a:p>
            <a:r>
              <a:rPr lang="es-CO" dirty="0"/>
              <a:t>(c) La altura de la contrahuella y el ancho de la huella deben dimensionarse en tal forma que la suma de 2 contrahuellas y una huella, sin incluir proyecciones, oscile entre 600 mm y 640 </a:t>
            </a:r>
            <a:r>
              <a:rPr lang="es-CO" dirty="0" err="1"/>
              <a:t>mm.</a:t>
            </a:r>
            <a:r>
              <a:rPr lang="es-CO" dirty="0"/>
              <a:t> </a:t>
            </a:r>
          </a:p>
          <a:p>
            <a:r>
              <a:rPr lang="es-CO" dirty="0"/>
              <a:t>(d) Las huellas deben tener el borde o arista redondeados, con un radio de curvatura máximo de 1  cm y de forma que no sobresalga del plano de la contrahuella. </a:t>
            </a:r>
          </a:p>
          <a:p>
            <a:r>
              <a:rPr lang="es-CO" dirty="0"/>
              <a:t>(e) Las contrahuellas no deberán ser caladas. </a:t>
            </a:r>
          </a:p>
          <a:p>
            <a:r>
              <a:rPr lang="es-CO" dirty="0"/>
              <a:t>(f) El ángulo que forma la contrahuella con la huella, debe ser ente 90º y 75° </a:t>
            </a:r>
          </a:p>
          <a:p>
            <a:r>
              <a:rPr lang="es-CO" dirty="0"/>
              <a:t>(g) Los pisos deben ser antideslizantes, sin relieves en su especie, con las puntas diferenciadas </a:t>
            </a:r>
          </a:p>
          <a:p>
            <a:r>
              <a:rPr lang="es-CO" dirty="0"/>
              <a:t>visualmente.</a:t>
            </a:r>
          </a:p>
          <a:p>
            <a:r>
              <a:rPr lang="es-CO" dirty="0"/>
              <a:t>(h) Los escalones aislados, deberán presentar textura, color e iluminación que los diferencie del </a:t>
            </a:r>
          </a:p>
          <a:p>
            <a:r>
              <a:rPr lang="es-CO" dirty="0"/>
              <a:t>pavimento general. </a:t>
            </a:r>
          </a:p>
          <a:p>
            <a:r>
              <a:rPr lang="es-CO" dirty="0"/>
              <a:t>(i) Las escaleras deben estar debidamente señalizadas, de acuerdo con la NTC 4144. </a:t>
            </a:r>
          </a:p>
        </p:txBody>
      </p:sp>
    </p:spTree>
    <p:extLst>
      <p:ext uri="{BB962C8B-B14F-4D97-AF65-F5344CB8AC3E}">
        <p14:creationId xmlns:p14="http://schemas.microsoft.com/office/powerpoint/2010/main" val="1327306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D80F-BC9F-3D61-EE29-9C42B744229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FFC55F1-A9C8-3457-D02F-5BF4D73C50F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ESCALERAS</a:t>
            </a:r>
          </a:p>
        </p:txBody>
      </p:sp>
      <p:pic>
        <p:nvPicPr>
          <p:cNvPr id="3" name="Picture 12" descr="Se conmemoran 150 años de la Universidad Nacional de Colombia">
            <a:extLst>
              <a:ext uri="{FF2B5EF4-FFF2-40B4-BE49-F238E27FC236}">
                <a16:creationId xmlns:a16="http://schemas.microsoft.com/office/drawing/2014/main" id="{AB779FF4-E7FE-811C-06DD-29578DC1EB1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1BCADD6-713D-820E-7A45-56199D4736D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D110E9CD-D30D-B9F3-303F-68BBC9BF3544}"/>
              </a:ext>
            </a:extLst>
          </p:cNvPr>
          <p:cNvSpPr txBox="1"/>
          <p:nvPr/>
        </p:nvSpPr>
        <p:spPr>
          <a:xfrm>
            <a:off x="235236" y="990531"/>
            <a:ext cx="11282181" cy="400110"/>
          </a:xfrm>
          <a:prstGeom prst="rect">
            <a:avLst/>
          </a:prstGeom>
          <a:noFill/>
        </p:spPr>
        <p:txBody>
          <a:bodyPr wrap="square">
            <a:spAutoFit/>
          </a:bodyPr>
          <a:lstStyle/>
          <a:p>
            <a:r>
              <a:rPr lang="es-CO" sz="2000" b="1" dirty="0"/>
              <a:t>Un solo tramo</a:t>
            </a:r>
          </a:p>
        </p:txBody>
      </p:sp>
      <p:pic>
        <p:nvPicPr>
          <p:cNvPr id="4" name="Imagen 3">
            <a:extLst>
              <a:ext uri="{FF2B5EF4-FFF2-40B4-BE49-F238E27FC236}">
                <a16:creationId xmlns:a16="http://schemas.microsoft.com/office/drawing/2014/main" id="{A4343592-9AF4-431C-F86E-93C05E8AD667}"/>
              </a:ext>
            </a:extLst>
          </p:cNvPr>
          <p:cNvPicPr>
            <a:picLocks noChangeAspect="1"/>
          </p:cNvPicPr>
          <p:nvPr/>
        </p:nvPicPr>
        <p:blipFill>
          <a:blip r:embed="rId4"/>
          <a:stretch>
            <a:fillRect/>
          </a:stretch>
        </p:blipFill>
        <p:spPr>
          <a:xfrm>
            <a:off x="494334" y="2715127"/>
            <a:ext cx="3267075" cy="3810000"/>
          </a:xfrm>
          <a:prstGeom prst="rect">
            <a:avLst/>
          </a:prstGeom>
        </p:spPr>
      </p:pic>
      <p:pic>
        <p:nvPicPr>
          <p:cNvPr id="7" name="Imagen 6">
            <a:extLst>
              <a:ext uri="{FF2B5EF4-FFF2-40B4-BE49-F238E27FC236}">
                <a16:creationId xmlns:a16="http://schemas.microsoft.com/office/drawing/2014/main" id="{C922D287-5C1C-F744-5C58-8DB28D089C21}"/>
              </a:ext>
            </a:extLst>
          </p:cNvPr>
          <p:cNvPicPr>
            <a:picLocks noChangeAspect="1"/>
          </p:cNvPicPr>
          <p:nvPr/>
        </p:nvPicPr>
        <p:blipFill>
          <a:blip r:embed="rId5"/>
          <a:stretch>
            <a:fillRect/>
          </a:stretch>
        </p:blipFill>
        <p:spPr>
          <a:xfrm>
            <a:off x="6333989" y="3884589"/>
            <a:ext cx="4762913" cy="2141406"/>
          </a:xfrm>
          <a:prstGeom prst="rect">
            <a:avLst/>
          </a:prstGeom>
        </p:spPr>
      </p:pic>
      <p:sp>
        <p:nvSpPr>
          <p:cNvPr id="10" name="CuadroTexto 9">
            <a:extLst>
              <a:ext uri="{FF2B5EF4-FFF2-40B4-BE49-F238E27FC236}">
                <a16:creationId xmlns:a16="http://schemas.microsoft.com/office/drawing/2014/main" id="{9E2FF22D-40CF-5175-9BF5-9189ACBEE54B}"/>
              </a:ext>
            </a:extLst>
          </p:cNvPr>
          <p:cNvSpPr txBox="1"/>
          <p:nvPr/>
        </p:nvSpPr>
        <p:spPr>
          <a:xfrm>
            <a:off x="235236" y="1481653"/>
            <a:ext cx="11851344" cy="923330"/>
          </a:xfrm>
          <a:prstGeom prst="rect">
            <a:avLst/>
          </a:prstGeom>
          <a:noFill/>
        </p:spPr>
        <p:txBody>
          <a:bodyPr wrap="square">
            <a:spAutoFit/>
          </a:bodyPr>
          <a:lstStyle/>
          <a:p>
            <a:r>
              <a:rPr lang="es-CO" dirty="0"/>
              <a:t>El comportamiento estructural de una escalera es similar al de una losa unidireccional apoyada en ambos extremos. Cuando la escalera tiene descansos, puede resultar más económico colocar vigas entre ellos. Si no se colocan dichos apoyos, lo cual es bastante común, la longitud de la escalera aumentará en el ancho de dos descansos y se extenderá</a:t>
            </a:r>
          </a:p>
        </p:txBody>
      </p:sp>
    </p:spTree>
    <p:extLst>
      <p:ext uri="{BB962C8B-B14F-4D97-AF65-F5344CB8AC3E}">
        <p14:creationId xmlns:p14="http://schemas.microsoft.com/office/powerpoint/2010/main" val="1221534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712BF-A01F-80C8-72EE-667DEE5BB4C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BB268F6-A499-B019-7F78-01A5F94ECA5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ESCALERAS</a:t>
            </a:r>
          </a:p>
        </p:txBody>
      </p:sp>
      <p:pic>
        <p:nvPicPr>
          <p:cNvPr id="3" name="Picture 12" descr="Se conmemoran 150 años de la Universidad Nacional de Colombia">
            <a:extLst>
              <a:ext uri="{FF2B5EF4-FFF2-40B4-BE49-F238E27FC236}">
                <a16:creationId xmlns:a16="http://schemas.microsoft.com/office/drawing/2014/main" id="{F10584E1-74C6-FB8A-32EE-0227EB22899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97FBBE15-AAB5-0611-B3D7-5133664C91E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F9964AE0-8552-F3FF-83D3-91C1DDEB4FB4}"/>
              </a:ext>
            </a:extLst>
          </p:cNvPr>
          <p:cNvSpPr txBox="1"/>
          <p:nvPr/>
        </p:nvSpPr>
        <p:spPr>
          <a:xfrm>
            <a:off x="235236" y="990531"/>
            <a:ext cx="11282181" cy="400110"/>
          </a:xfrm>
          <a:prstGeom prst="rect">
            <a:avLst/>
          </a:prstGeom>
          <a:noFill/>
        </p:spPr>
        <p:txBody>
          <a:bodyPr wrap="square">
            <a:spAutoFit/>
          </a:bodyPr>
          <a:lstStyle/>
          <a:p>
            <a:r>
              <a:rPr lang="es-CO" sz="2000" b="1" dirty="0"/>
              <a:t>Doble tramo</a:t>
            </a:r>
          </a:p>
        </p:txBody>
      </p:sp>
      <p:sp>
        <p:nvSpPr>
          <p:cNvPr id="10" name="CuadroTexto 9">
            <a:extLst>
              <a:ext uri="{FF2B5EF4-FFF2-40B4-BE49-F238E27FC236}">
                <a16:creationId xmlns:a16="http://schemas.microsoft.com/office/drawing/2014/main" id="{6B4AD6F3-EF08-91CA-72E1-8D045EB79DD6}"/>
              </a:ext>
            </a:extLst>
          </p:cNvPr>
          <p:cNvSpPr txBox="1"/>
          <p:nvPr/>
        </p:nvSpPr>
        <p:spPr>
          <a:xfrm>
            <a:off x="235236" y="1481653"/>
            <a:ext cx="11851344" cy="1200329"/>
          </a:xfrm>
          <a:prstGeom prst="rect">
            <a:avLst/>
          </a:prstGeom>
          <a:noFill/>
        </p:spPr>
        <p:txBody>
          <a:bodyPr wrap="square">
            <a:spAutoFit/>
          </a:bodyPr>
          <a:lstStyle/>
          <a:p>
            <a:r>
              <a:rPr lang="es-CO" dirty="0"/>
              <a:t>Escaleras de doble tramo: En la mayoría de los edificios, resulta más conveniente construir la escalera en doble tramo entrepisos. Los tipos más comunes son las escaleras de cuarto de vuelta  las de pozo cerrado o abierto. Para el análisis estructural de la escalera, cada tramo se considera como un tramo individual. se diseña como una losa unidireccional.</a:t>
            </a:r>
          </a:p>
        </p:txBody>
      </p:sp>
      <p:pic>
        <p:nvPicPr>
          <p:cNvPr id="6" name="Imagen 5" descr="Stair Flights - Concrete Stairs - Nauhria">
            <a:extLst>
              <a:ext uri="{FF2B5EF4-FFF2-40B4-BE49-F238E27FC236}">
                <a16:creationId xmlns:a16="http://schemas.microsoft.com/office/drawing/2014/main" id="{C4446230-7A4E-4708-8ADF-38A0D773A14A}"/>
              </a:ext>
            </a:extLst>
          </p:cNvPr>
          <p:cNvPicPr>
            <a:picLocks noChangeAspect="1"/>
          </p:cNvPicPr>
          <p:nvPr/>
        </p:nvPicPr>
        <p:blipFill>
          <a:blip r:embed="rId4"/>
          <a:stretch>
            <a:fillRect/>
          </a:stretch>
        </p:blipFill>
        <p:spPr>
          <a:xfrm>
            <a:off x="114912" y="2813095"/>
            <a:ext cx="3467060" cy="4044903"/>
          </a:xfrm>
          <a:prstGeom prst="rect">
            <a:avLst/>
          </a:prstGeom>
        </p:spPr>
      </p:pic>
      <p:pic>
        <p:nvPicPr>
          <p:cNvPr id="9" name="Imagen 8">
            <a:extLst>
              <a:ext uri="{FF2B5EF4-FFF2-40B4-BE49-F238E27FC236}">
                <a16:creationId xmlns:a16="http://schemas.microsoft.com/office/drawing/2014/main" id="{74AE8841-ED5F-3B26-B0B5-9C3D79A3FA70}"/>
              </a:ext>
            </a:extLst>
          </p:cNvPr>
          <p:cNvPicPr>
            <a:picLocks noChangeAspect="1"/>
          </p:cNvPicPr>
          <p:nvPr/>
        </p:nvPicPr>
        <p:blipFill>
          <a:blip r:embed="rId5"/>
          <a:stretch>
            <a:fillRect/>
          </a:stretch>
        </p:blipFill>
        <p:spPr>
          <a:xfrm>
            <a:off x="3643305" y="2561823"/>
            <a:ext cx="3970364" cy="3673158"/>
          </a:xfrm>
          <a:prstGeom prst="rect">
            <a:avLst/>
          </a:prstGeom>
        </p:spPr>
      </p:pic>
      <p:pic>
        <p:nvPicPr>
          <p:cNvPr id="13" name="Imagen 12">
            <a:extLst>
              <a:ext uri="{FF2B5EF4-FFF2-40B4-BE49-F238E27FC236}">
                <a16:creationId xmlns:a16="http://schemas.microsoft.com/office/drawing/2014/main" id="{26B9A2FB-CC20-A653-5904-F73109E8FD83}"/>
              </a:ext>
            </a:extLst>
          </p:cNvPr>
          <p:cNvPicPr>
            <a:picLocks noChangeAspect="1"/>
          </p:cNvPicPr>
          <p:nvPr/>
        </p:nvPicPr>
        <p:blipFill>
          <a:blip r:embed="rId6"/>
          <a:stretch>
            <a:fillRect/>
          </a:stretch>
        </p:blipFill>
        <p:spPr>
          <a:xfrm>
            <a:off x="8158638" y="2772994"/>
            <a:ext cx="3382973" cy="1795788"/>
          </a:xfrm>
          <a:prstGeom prst="rect">
            <a:avLst/>
          </a:prstGeom>
        </p:spPr>
      </p:pic>
      <p:pic>
        <p:nvPicPr>
          <p:cNvPr id="15" name="Imagen 14">
            <a:extLst>
              <a:ext uri="{FF2B5EF4-FFF2-40B4-BE49-F238E27FC236}">
                <a16:creationId xmlns:a16="http://schemas.microsoft.com/office/drawing/2014/main" id="{70CBBF53-474A-9E6C-DFFB-807B8DB52D7F}"/>
              </a:ext>
            </a:extLst>
          </p:cNvPr>
          <p:cNvPicPr>
            <a:picLocks noChangeAspect="1"/>
          </p:cNvPicPr>
          <p:nvPr/>
        </p:nvPicPr>
        <p:blipFill>
          <a:blip r:embed="rId7"/>
          <a:stretch>
            <a:fillRect/>
          </a:stretch>
        </p:blipFill>
        <p:spPr>
          <a:xfrm>
            <a:off x="8065871" y="5112346"/>
            <a:ext cx="3918614" cy="1336581"/>
          </a:xfrm>
          <a:prstGeom prst="rect">
            <a:avLst/>
          </a:prstGeom>
        </p:spPr>
      </p:pic>
    </p:spTree>
    <p:extLst>
      <p:ext uri="{BB962C8B-B14F-4D97-AF65-F5344CB8AC3E}">
        <p14:creationId xmlns:p14="http://schemas.microsoft.com/office/powerpoint/2010/main" val="2170954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DABAB-E343-BA59-0D26-879A1BCCA73E}"/>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D3D670A-E2E2-A049-F54D-9835A3AA41FC}"/>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ESCALERAS</a:t>
            </a:r>
          </a:p>
        </p:txBody>
      </p:sp>
      <p:pic>
        <p:nvPicPr>
          <p:cNvPr id="3" name="Picture 12" descr="Se conmemoran 150 años de la Universidad Nacional de Colombia">
            <a:extLst>
              <a:ext uri="{FF2B5EF4-FFF2-40B4-BE49-F238E27FC236}">
                <a16:creationId xmlns:a16="http://schemas.microsoft.com/office/drawing/2014/main" id="{FAC4B54D-AAE3-2B51-817B-1EB3FB46156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814F13AC-B12D-8BDB-D3FB-EB46A62988B0}"/>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4BD8EAA3-CF74-8579-D176-5DA3874ED5AF}"/>
              </a:ext>
            </a:extLst>
          </p:cNvPr>
          <p:cNvSpPr txBox="1"/>
          <p:nvPr/>
        </p:nvSpPr>
        <p:spPr>
          <a:xfrm>
            <a:off x="235236" y="990531"/>
            <a:ext cx="11282181" cy="400110"/>
          </a:xfrm>
          <a:prstGeom prst="rect">
            <a:avLst/>
          </a:prstGeom>
          <a:noFill/>
        </p:spPr>
        <p:txBody>
          <a:bodyPr wrap="square">
            <a:spAutoFit/>
          </a:bodyPr>
          <a:lstStyle/>
          <a:p>
            <a:r>
              <a:rPr lang="es-CO" sz="2000" b="1" dirty="0"/>
              <a:t>Voladizo</a:t>
            </a:r>
          </a:p>
        </p:txBody>
      </p:sp>
      <p:pic>
        <p:nvPicPr>
          <p:cNvPr id="4" name="Imagen 3" descr="Cómo diseñar escaleras flotantes? | ArchDaily en Español">
            <a:extLst>
              <a:ext uri="{FF2B5EF4-FFF2-40B4-BE49-F238E27FC236}">
                <a16:creationId xmlns:a16="http://schemas.microsoft.com/office/drawing/2014/main" id="{B22706A8-EFD3-CF88-D861-8DDEA75C403C}"/>
              </a:ext>
            </a:extLst>
          </p:cNvPr>
          <p:cNvPicPr>
            <a:picLocks noChangeAspect="1"/>
          </p:cNvPicPr>
          <p:nvPr/>
        </p:nvPicPr>
        <p:blipFill>
          <a:blip r:embed="rId4"/>
          <a:stretch>
            <a:fillRect/>
          </a:stretch>
        </p:blipFill>
        <p:spPr>
          <a:xfrm>
            <a:off x="1024403" y="3474958"/>
            <a:ext cx="4778255" cy="3383042"/>
          </a:xfrm>
          <a:prstGeom prst="rect">
            <a:avLst/>
          </a:prstGeom>
        </p:spPr>
      </p:pic>
      <p:sp>
        <p:nvSpPr>
          <p:cNvPr id="8" name="CuadroTexto 7">
            <a:extLst>
              <a:ext uri="{FF2B5EF4-FFF2-40B4-BE49-F238E27FC236}">
                <a16:creationId xmlns:a16="http://schemas.microsoft.com/office/drawing/2014/main" id="{B6B0AB72-86AD-DEEA-CCC0-24963F816150}"/>
              </a:ext>
            </a:extLst>
          </p:cNvPr>
          <p:cNvSpPr txBox="1"/>
          <p:nvPr/>
        </p:nvSpPr>
        <p:spPr>
          <a:xfrm>
            <a:off x="0" y="1249052"/>
            <a:ext cx="12192000" cy="2031325"/>
          </a:xfrm>
          <a:prstGeom prst="rect">
            <a:avLst/>
          </a:prstGeom>
          <a:noFill/>
        </p:spPr>
        <p:txBody>
          <a:bodyPr wrap="square">
            <a:spAutoFit/>
          </a:bodyPr>
          <a:lstStyle/>
          <a:p>
            <a:r>
              <a:rPr lang="es-CO" dirty="0"/>
              <a:t>Las escaleras en voladizo se utilizan principalmente en escaleras de incendios y se apoyan en muros o vigas de hormigón. Los peldaños pueden ser de tramo completo, sobresaliendo de un lado del muro; de medio tramo, sobresaliendo de ambos lados del muro de apoyo; o </a:t>
            </a:r>
            <a:r>
              <a:rPr lang="es-CO" dirty="0" err="1"/>
              <a:t>semiespiral</a:t>
            </a:r>
            <a:r>
              <a:rPr lang="es-CO" dirty="0"/>
              <a:t>. En este tipo de escaleras, cada peldaño actúa como un voladizo, y el refuerzo principal se coloca en el lado de tracción del tramo, mientras que las barras se anclan dentro del muro de hormigón. Se proporciona refuerzo para retracción y temperatura en la dirección transversal. Otra forma de escalera en voladizo es la que utiliza peldaños de contrahuella abierta apoyados en una viga central. La viga tiene una pendiente similar a la del tramo de escalera y recibe los peldaños en sus secciones preparadas horizontalmente. </a:t>
            </a:r>
          </a:p>
        </p:txBody>
      </p:sp>
      <p:pic>
        <p:nvPicPr>
          <p:cNvPr id="17" name="Imagen 16">
            <a:extLst>
              <a:ext uri="{FF2B5EF4-FFF2-40B4-BE49-F238E27FC236}">
                <a16:creationId xmlns:a16="http://schemas.microsoft.com/office/drawing/2014/main" id="{99E5351E-0F25-F449-513F-58AB09C0C3D7}"/>
              </a:ext>
            </a:extLst>
          </p:cNvPr>
          <p:cNvPicPr>
            <a:picLocks noChangeAspect="1"/>
          </p:cNvPicPr>
          <p:nvPr/>
        </p:nvPicPr>
        <p:blipFill>
          <a:blip r:embed="rId5"/>
          <a:stretch>
            <a:fillRect/>
          </a:stretch>
        </p:blipFill>
        <p:spPr>
          <a:xfrm>
            <a:off x="8061266" y="3493985"/>
            <a:ext cx="2734590" cy="3383042"/>
          </a:xfrm>
          <a:prstGeom prst="rect">
            <a:avLst/>
          </a:prstGeom>
        </p:spPr>
      </p:pic>
    </p:spTree>
    <p:extLst>
      <p:ext uri="{BB962C8B-B14F-4D97-AF65-F5344CB8AC3E}">
        <p14:creationId xmlns:p14="http://schemas.microsoft.com/office/powerpoint/2010/main" val="2025466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9C468-A353-C38C-7411-436395BF129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615A4E0-15D5-9C19-506B-C47DF1C56B3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ESCALERAS</a:t>
            </a:r>
          </a:p>
        </p:txBody>
      </p:sp>
      <p:pic>
        <p:nvPicPr>
          <p:cNvPr id="3" name="Picture 12" descr="Se conmemoran 150 años de la Universidad Nacional de Colombia">
            <a:extLst>
              <a:ext uri="{FF2B5EF4-FFF2-40B4-BE49-F238E27FC236}">
                <a16:creationId xmlns:a16="http://schemas.microsoft.com/office/drawing/2014/main" id="{8B4BF655-6344-727B-A4A5-13BCEDCA07C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E7217D59-2AA8-A829-8BEA-EB5D52DFCFC4}"/>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169E04F1-802A-20A3-0279-02B15B96C32D}"/>
              </a:ext>
            </a:extLst>
          </p:cNvPr>
          <p:cNvSpPr txBox="1"/>
          <p:nvPr/>
        </p:nvSpPr>
        <p:spPr>
          <a:xfrm>
            <a:off x="235236" y="990531"/>
            <a:ext cx="11282181" cy="400110"/>
          </a:xfrm>
          <a:prstGeom prst="rect">
            <a:avLst/>
          </a:prstGeom>
          <a:noFill/>
        </p:spPr>
        <p:txBody>
          <a:bodyPr wrap="square">
            <a:spAutoFit/>
          </a:bodyPr>
          <a:lstStyle/>
          <a:p>
            <a:r>
              <a:rPr lang="es-CO" sz="2000" b="1" dirty="0"/>
              <a:t>Autoportantes</a:t>
            </a:r>
          </a:p>
        </p:txBody>
      </p:sp>
      <p:sp>
        <p:nvSpPr>
          <p:cNvPr id="8" name="CuadroTexto 7">
            <a:extLst>
              <a:ext uri="{FF2B5EF4-FFF2-40B4-BE49-F238E27FC236}">
                <a16:creationId xmlns:a16="http://schemas.microsoft.com/office/drawing/2014/main" id="{7C0B2FA4-63DD-73D8-B0E8-89BE2AE0C4A6}"/>
              </a:ext>
            </a:extLst>
          </p:cNvPr>
          <p:cNvSpPr txBox="1"/>
          <p:nvPr/>
        </p:nvSpPr>
        <p:spPr>
          <a:xfrm>
            <a:off x="0" y="1390641"/>
            <a:ext cx="12192000" cy="923330"/>
          </a:xfrm>
          <a:prstGeom prst="rect">
            <a:avLst/>
          </a:prstGeom>
          <a:noFill/>
        </p:spPr>
        <p:txBody>
          <a:bodyPr wrap="square">
            <a:spAutoFit/>
          </a:bodyPr>
          <a:lstStyle/>
          <a:p>
            <a:r>
              <a:rPr lang="es-CO" dirty="0"/>
              <a:t>En este tipo de escalera, el descanso se proyecta hacia el aire sin ningún soporte en su extremo, La escalera por su geometría provoca esfuerzos de torsión en la losa. En el diseño de este tipo de escalera deben considerarse tres sistemas de carga, teniendo en cuenta que en todos los casos se desarrollarán momentos de torsión en la losa.</a:t>
            </a:r>
          </a:p>
        </p:txBody>
      </p:sp>
      <p:pic>
        <p:nvPicPr>
          <p:cNvPr id="7" name="Imagen 6">
            <a:extLst>
              <a:ext uri="{FF2B5EF4-FFF2-40B4-BE49-F238E27FC236}">
                <a16:creationId xmlns:a16="http://schemas.microsoft.com/office/drawing/2014/main" id="{8DF8462B-BDCB-D4D6-187F-AD37D8D406DB}"/>
              </a:ext>
            </a:extLst>
          </p:cNvPr>
          <p:cNvPicPr>
            <a:picLocks noChangeAspect="1"/>
          </p:cNvPicPr>
          <p:nvPr/>
        </p:nvPicPr>
        <p:blipFill>
          <a:blip r:embed="rId4"/>
          <a:stretch>
            <a:fillRect/>
          </a:stretch>
        </p:blipFill>
        <p:spPr>
          <a:xfrm>
            <a:off x="166014" y="2638453"/>
            <a:ext cx="5929986" cy="4161871"/>
          </a:xfrm>
          <a:prstGeom prst="rect">
            <a:avLst/>
          </a:prstGeom>
        </p:spPr>
      </p:pic>
      <p:pic>
        <p:nvPicPr>
          <p:cNvPr id="10" name="Imagen 9">
            <a:extLst>
              <a:ext uri="{FF2B5EF4-FFF2-40B4-BE49-F238E27FC236}">
                <a16:creationId xmlns:a16="http://schemas.microsoft.com/office/drawing/2014/main" id="{4A6F1B08-A912-CB79-4ED5-E4CF60803535}"/>
              </a:ext>
            </a:extLst>
          </p:cNvPr>
          <p:cNvPicPr>
            <a:picLocks noChangeAspect="1"/>
          </p:cNvPicPr>
          <p:nvPr/>
        </p:nvPicPr>
        <p:blipFill>
          <a:blip r:embed="rId5"/>
          <a:stretch>
            <a:fillRect/>
          </a:stretch>
        </p:blipFill>
        <p:spPr>
          <a:xfrm>
            <a:off x="6708237" y="2714081"/>
            <a:ext cx="5005026" cy="3583480"/>
          </a:xfrm>
          <a:prstGeom prst="rect">
            <a:avLst/>
          </a:prstGeom>
        </p:spPr>
      </p:pic>
    </p:spTree>
    <p:extLst>
      <p:ext uri="{BB962C8B-B14F-4D97-AF65-F5344CB8AC3E}">
        <p14:creationId xmlns:p14="http://schemas.microsoft.com/office/powerpoint/2010/main" val="1023191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91559-12D8-8B60-12DB-01DB3B2CC1CE}"/>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2BA65BD-347D-6012-8845-0DDC15C43DA2}"/>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ESCALERAS</a:t>
            </a:r>
          </a:p>
        </p:txBody>
      </p:sp>
      <p:pic>
        <p:nvPicPr>
          <p:cNvPr id="3" name="Picture 12" descr="Se conmemoran 150 años de la Universidad Nacional de Colombia">
            <a:extLst>
              <a:ext uri="{FF2B5EF4-FFF2-40B4-BE49-F238E27FC236}">
                <a16:creationId xmlns:a16="http://schemas.microsoft.com/office/drawing/2014/main" id="{0AA8251D-80C0-7625-53BB-5169BB0D277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F074677A-2BAD-86E2-0074-3BA6911034B5}"/>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929F67F6-D132-7051-A30C-BCA68AF7FFB2}"/>
              </a:ext>
            </a:extLst>
          </p:cNvPr>
          <p:cNvSpPr txBox="1"/>
          <p:nvPr/>
        </p:nvSpPr>
        <p:spPr>
          <a:xfrm>
            <a:off x="235236" y="990531"/>
            <a:ext cx="11282181" cy="400110"/>
          </a:xfrm>
          <a:prstGeom prst="rect">
            <a:avLst/>
          </a:prstGeom>
          <a:noFill/>
        </p:spPr>
        <p:txBody>
          <a:bodyPr wrap="square">
            <a:spAutoFit/>
          </a:bodyPr>
          <a:lstStyle/>
          <a:p>
            <a:r>
              <a:rPr lang="es-CO" sz="2000" b="1" dirty="0"/>
              <a:t>Ejemplo</a:t>
            </a:r>
          </a:p>
        </p:txBody>
      </p:sp>
      <p:pic>
        <p:nvPicPr>
          <p:cNvPr id="6" name="Imagen 5">
            <a:extLst>
              <a:ext uri="{FF2B5EF4-FFF2-40B4-BE49-F238E27FC236}">
                <a16:creationId xmlns:a16="http://schemas.microsoft.com/office/drawing/2014/main" id="{88B4E68D-9FF7-70E3-3113-BAE9E183FBDA}"/>
              </a:ext>
            </a:extLst>
          </p:cNvPr>
          <p:cNvPicPr>
            <a:picLocks noChangeAspect="1"/>
          </p:cNvPicPr>
          <p:nvPr/>
        </p:nvPicPr>
        <p:blipFill>
          <a:blip r:embed="rId4"/>
          <a:stretch>
            <a:fillRect/>
          </a:stretch>
        </p:blipFill>
        <p:spPr>
          <a:xfrm>
            <a:off x="0" y="1504255"/>
            <a:ext cx="5403898" cy="2880610"/>
          </a:xfrm>
          <a:prstGeom prst="rect">
            <a:avLst/>
          </a:prstGeom>
        </p:spPr>
      </p:pic>
      <p:pic>
        <p:nvPicPr>
          <p:cNvPr id="12" name="Imagen 11">
            <a:extLst>
              <a:ext uri="{FF2B5EF4-FFF2-40B4-BE49-F238E27FC236}">
                <a16:creationId xmlns:a16="http://schemas.microsoft.com/office/drawing/2014/main" id="{B0454A1F-740C-EF95-913D-EC1511BBFE07}"/>
              </a:ext>
            </a:extLst>
          </p:cNvPr>
          <p:cNvPicPr>
            <a:picLocks noChangeAspect="1"/>
          </p:cNvPicPr>
          <p:nvPr/>
        </p:nvPicPr>
        <p:blipFill>
          <a:blip r:embed="rId5"/>
          <a:stretch>
            <a:fillRect/>
          </a:stretch>
        </p:blipFill>
        <p:spPr>
          <a:xfrm>
            <a:off x="3802344" y="4888214"/>
            <a:ext cx="8359864" cy="1958510"/>
          </a:xfrm>
          <a:prstGeom prst="rect">
            <a:avLst/>
          </a:prstGeom>
        </p:spPr>
      </p:pic>
      <p:pic>
        <p:nvPicPr>
          <p:cNvPr id="14" name="Imagen 13">
            <a:extLst>
              <a:ext uri="{FF2B5EF4-FFF2-40B4-BE49-F238E27FC236}">
                <a16:creationId xmlns:a16="http://schemas.microsoft.com/office/drawing/2014/main" id="{A9080DC8-6DB8-EE33-EE40-198411BBF1EB}"/>
              </a:ext>
            </a:extLst>
          </p:cNvPr>
          <p:cNvPicPr>
            <a:picLocks noChangeAspect="1"/>
          </p:cNvPicPr>
          <p:nvPr/>
        </p:nvPicPr>
        <p:blipFill>
          <a:blip r:embed="rId6"/>
          <a:stretch>
            <a:fillRect/>
          </a:stretch>
        </p:blipFill>
        <p:spPr>
          <a:xfrm>
            <a:off x="5557212" y="2260422"/>
            <a:ext cx="6604996" cy="1493649"/>
          </a:xfrm>
          <a:prstGeom prst="rect">
            <a:avLst/>
          </a:prstGeom>
        </p:spPr>
      </p:pic>
      <p:sp>
        <p:nvSpPr>
          <p:cNvPr id="15" name="CuadroTexto 14">
            <a:extLst>
              <a:ext uri="{FF2B5EF4-FFF2-40B4-BE49-F238E27FC236}">
                <a16:creationId xmlns:a16="http://schemas.microsoft.com/office/drawing/2014/main" id="{ED03FC62-4EAA-D119-9937-027AA99A524F}"/>
              </a:ext>
            </a:extLst>
          </p:cNvPr>
          <p:cNvSpPr txBox="1"/>
          <p:nvPr/>
        </p:nvSpPr>
        <p:spPr>
          <a:xfrm>
            <a:off x="5876326" y="1124548"/>
            <a:ext cx="5337438" cy="369332"/>
          </a:xfrm>
          <a:prstGeom prst="rect">
            <a:avLst/>
          </a:prstGeom>
          <a:noFill/>
        </p:spPr>
        <p:txBody>
          <a:bodyPr wrap="square">
            <a:spAutoFit/>
          </a:bodyPr>
          <a:lstStyle/>
          <a:p>
            <a:r>
              <a:rPr lang="es-CO" dirty="0"/>
              <a:t>Pre dimensionamiento espesor de losa e=L/20</a:t>
            </a:r>
          </a:p>
        </p:txBody>
      </p:sp>
      <p:sp>
        <p:nvSpPr>
          <p:cNvPr id="16" name="CuadroTexto 15">
            <a:extLst>
              <a:ext uri="{FF2B5EF4-FFF2-40B4-BE49-F238E27FC236}">
                <a16:creationId xmlns:a16="http://schemas.microsoft.com/office/drawing/2014/main" id="{4857016F-B293-2185-284A-5CBF69A6393D}"/>
              </a:ext>
            </a:extLst>
          </p:cNvPr>
          <p:cNvSpPr txBox="1"/>
          <p:nvPr/>
        </p:nvSpPr>
        <p:spPr>
          <a:xfrm>
            <a:off x="5623091" y="1918195"/>
            <a:ext cx="5337438" cy="369332"/>
          </a:xfrm>
          <a:prstGeom prst="rect">
            <a:avLst/>
          </a:prstGeom>
          <a:noFill/>
        </p:spPr>
        <p:txBody>
          <a:bodyPr wrap="square">
            <a:spAutoFit/>
          </a:bodyPr>
          <a:lstStyle/>
          <a:p>
            <a:r>
              <a:rPr lang="es-CO" u="sng" dirty="0" err="1"/>
              <a:t>Evaluo</a:t>
            </a:r>
            <a:r>
              <a:rPr lang="es-CO" u="sng" dirty="0"/>
              <a:t> tramo descanso</a:t>
            </a:r>
          </a:p>
        </p:txBody>
      </p:sp>
      <p:sp>
        <p:nvSpPr>
          <p:cNvPr id="17" name="CuadroTexto 16">
            <a:extLst>
              <a:ext uri="{FF2B5EF4-FFF2-40B4-BE49-F238E27FC236}">
                <a16:creationId xmlns:a16="http://schemas.microsoft.com/office/drawing/2014/main" id="{FB99BEAB-D610-1FF0-15C9-1A1DB2023AC4}"/>
              </a:ext>
            </a:extLst>
          </p:cNvPr>
          <p:cNvSpPr txBox="1"/>
          <p:nvPr/>
        </p:nvSpPr>
        <p:spPr>
          <a:xfrm>
            <a:off x="5526504" y="4518882"/>
            <a:ext cx="5337438" cy="369332"/>
          </a:xfrm>
          <a:prstGeom prst="rect">
            <a:avLst/>
          </a:prstGeom>
          <a:noFill/>
        </p:spPr>
        <p:txBody>
          <a:bodyPr wrap="square">
            <a:spAutoFit/>
          </a:bodyPr>
          <a:lstStyle/>
          <a:p>
            <a:r>
              <a:rPr lang="es-CO" u="sng" dirty="0" err="1"/>
              <a:t>Evaluo</a:t>
            </a:r>
            <a:r>
              <a:rPr lang="es-CO" u="sng" dirty="0"/>
              <a:t> tramo inclinado</a:t>
            </a:r>
          </a:p>
        </p:txBody>
      </p:sp>
    </p:spTree>
    <p:extLst>
      <p:ext uri="{BB962C8B-B14F-4D97-AF65-F5344CB8AC3E}">
        <p14:creationId xmlns:p14="http://schemas.microsoft.com/office/powerpoint/2010/main" val="1661044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EF44B-0DAE-F705-460C-C5D175ACCD0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61716B3F-B6E3-5AAF-B416-806F525F6715}"/>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ESCALERAS</a:t>
            </a:r>
          </a:p>
        </p:txBody>
      </p:sp>
      <p:pic>
        <p:nvPicPr>
          <p:cNvPr id="3" name="Picture 12" descr="Se conmemoran 150 años de la Universidad Nacional de Colombia">
            <a:extLst>
              <a:ext uri="{FF2B5EF4-FFF2-40B4-BE49-F238E27FC236}">
                <a16:creationId xmlns:a16="http://schemas.microsoft.com/office/drawing/2014/main" id="{C53946C6-AE84-80CD-3110-E7C70497280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A8E9D253-0F9B-24DC-BA93-273DDA73BA2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7945FBBB-A7CE-5309-A11B-0DC62B626EC3}"/>
              </a:ext>
            </a:extLst>
          </p:cNvPr>
          <p:cNvSpPr txBox="1"/>
          <p:nvPr/>
        </p:nvSpPr>
        <p:spPr>
          <a:xfrm>
            <a:off x="235236" y="990531"/>
            <a:ext cx="11282181" cy="400110"/>
          </a:xfrm>
          <a:prstGeom prst="rect">
            <a:avLst/>
          </a:prstGeom>
          <a:noFill/>
        </p:spPr>
        <p:txBody>
          <a:bodyPr wrap="square">
            <a:spAutoFit/>
          </a:bodyPr>
          <a:lstStyle/>
          <a:p>
            <a:r>
              <a:rPr lang="es-CO" sz="2000" b="1" dirty="0"/>
              <a:t>Ejemplo</a:t>
            </a:r>
          </a:p>
        </p:txBody>
      </p:sp>
      <p:pic>
        <p:nvPicPr>
          <p:cNvPr id="7" name="Imagen 6">
            <a:extLst>
              <a:ext uri="{FF2B5EF4-FFF2-40B4-BE49-F238E27FC236}">
                <a16:creationId xmlns:a16="http://schemas.microsoft.com/office/drawing/2014/main" id="{8BC1D5CD-8F2F-CAA1-ABAE-24A951C4DCA0}"/>
              </a:ext>
            </a:extLst>
          </p:cNvPr>
          <p:cNvPicPr>
            <a:picLocks noChangeAspect="1"/>
          </p:cNvPicPr>
          <p:nvPr/>
        </p:nvPicPr>
        <p:blipFill>
          <a:blip r:embed="rId4"/>
          <a:stretch>
            <a:fillRect/>
          </a:stretch>
        </p:blipFill>
        <p:spPr>
          <a:xfrm>
            <a:off x="0" y="1654418"/>
            <a:ext cx="5551566" cy="2816862"/>
          </a:xfrm>
          <a:prstGeom prst="rect">
            <a:avLst/>
          </a:prstGeom>
        </p:spPr>
      </p:pic>
      <p:pic>
        <p:nvPicPr>
          <p:cNvPr id="9" name="Imagen 8">
            <a:extLst>
              <a:ext uri="{FF2B5EF4-FFF2-40B4-BE49-F238E27FC236}">
                <a16:creationId xmlns:a16="http://schemas.microsoft.com/office/drawing/2014/main" id="{49AF9ADF-03AF-48BB-759B-A964870DE4F5}"/>
              </a:ext>
            </a:extLst>
          </p:cNvPr>
          <p:cNvPicPr>
            <a:picLocks noChangeAspect="1"/>
          </p:cNvPicPr>
          <p:nvPr/>
        </p:nvPicPr>
        <p:blipFill>
          <a:blip r:embed="rId5"/>
          <a:stretch>
            <a:fillRect/>
          </a:stretch>
        </p:blipFill>
        <p:spPr>
          <a:xfrm>
            <a:off x="6595604" y="1918195"/>
            <a:ext cx="4595075" cy="2546471"/>
          </a:xfrm>
          <a:prstGeom prst="rect">
            <a:avLst/>
          </a:prstGeom>
        </p:spPr>
      </p:pic>
      <p:pic>
        <p:nvPicPr>
          <p:cNvPr id="13" name="Imagen 12">
            <a:extLst>
              <a:ext uri="{FF2B5EF4-FFF2-40B4-BE49-F238E27FC236}">
                <a16:creationId xmlns:a16="http://schemas.microsoft.com/office/drawing/2014/main" id="{F0A9D868-05BF-AE37-DEBB-B144B7B5595D}"/>
              </a:ext>
            </a:extLst>
          </p:cNvPr>
          <p:cNvPicPr>
            <a:picLocks noChangeAspect="1"/>
          </p:cNvPicPr>
          <p:nvPr/>
        </p:nvPicPr>
        <p:blipFill>
          <a:blip r:embed="rId6"/>
          <a:stretch>
            <a:fillRect/>
          </a:stretch>
        </p:blipFill>
        <p:spPr>
          <a:xfrm>
            <a:off x="140190" y="4310743"/>
            <a:ext cx="4115157" cy="2491956"/>
          </a:xfrm>
          <a:prstGeom prst="rect">
            <a:avLst/>
          </a:prstGeom>
        </p:spPr>
      </p:pic>
      <p:sp>
        <p:nvSpPr>
          <p:cNvPr id="15" name="CuadroTexto 14">
            <a:extLst>
              <a:ext uri="{FF2B5EF4-FFF2-40B4-BE49-F238E27FC236}">
                <a16:creationId xmlns:a16="http://schemas.microsoft.com/office/drawing/2014/main" id="{80B42929-21AE-454A-33F2-A69EB2DEEB82}"/>
              </a:ext>
            </a:extLst>
          </p:cNvPr>
          <p:cNvSpPr txBox="1"/>
          <p:nvPr/>
        </p:nvSpPr>
        <p:spPr>
          <a:xfrm>
            <a:off x="308570" y="1469752"/>
            <a:ext cx="1540856" cy="369332"/>
          </a:xfrm>
          <a:prstGeom prst="rect">
            <a:avLst/>
          </a:prstGeom>
          <a:noFill/>
        </p:spPr>
        <p:txBody>
          <a:bodyPr wrap="square">
            <a:spAutoFit/>
          </a:bodyPr>
          <a:lstStyle/>
          <a:p>
            <a:r>
              <a:rPr lang="es-CO" u="sng" dirty="0"/>
              <a:t>Modelo</a:t>
            </a:r>
          </a:p>
        </p:txBody>
      </p:sp>
      <p:sp>
        <p:nvSpPr>
          <p:cNvPr id="16" name="CuadroTexto 15">
            <a:extLst>
              <a:ext uri="{FF2B5EF4-FFF2-40B4-BE49-F238E27FC236}">
                <a16:creationId xmlns:a16="http://schemas.microsoft.com/office/drawing/2014/main" id="{4EDBE1D6-DC21-421C-6525-FF2281C6DDD7}"/>
              </a:ext>
            </a:extLst>
          </p:cNvPr>
          <p:cNvSpPr txBox="1"/>
          <p:nvPr/>
        </p:nvSpPr>
        <p:spPr>
          <a:xfrm>
            <a:off x="8007812" y="1493880"/>
            <a:ext cx="1540856" cy="369332"/>
          </a:xfrm>
          <a:prstGeom prst="rect">
            <a:avLst/>
          </a:prstGeom>
          <a:noFill/>
        </p:spPr>
        <p:txBody>
          <a:bodyPr wrap="square">
            <a:spAutoFit/>
          </a:bodyPr>
          <a:lstStyle/>
          <a:p>
            <a:r>
              <a:rPr lang="es-CO" u="sng" dirty="0"/>
              <a:t>Carga muerta</a:t>
            </a:r>
          </a:p>
        </p:txBody>
      </p:sp>
      <p:sp>
        <p:nvSpPr>
          <p:cNvPr id="17" name="CuadroTexto 16">
            <a:extLst>
              <a:ext uri="{FF2B5EF4-FFF2-40B4-BE49-F238E27FC236}">
                <a16:creationId xmlns:a16="http://schemas.microsoft.com/office/drawing/2014/main" id="{523189B6-6E34-F8FC-548A-8113FAB5A56C}"/>
              </a:ext>
            </a:extLst>
          </p:cNvPr>
          <p:cNvSpPr txBox="1"/>
          <p:nvPr/>
        </p:nvSpPr>
        <p:spPr>
          <a:xfrm>
            <a:off x="230893" y="4401085"/>
            <a:ext cx="1540856" cy="369332"/>
          </a:xfrm>
          <a:prstGeom prst="rect">
            <a:avLst/>
          </a:prstGeom>
          <a:noFill/>
        </p:spPr>
        <p:txBody>
          <a:bodyPr wrap="square">
            <a:spAutoFit/>
          </a:bodyPr>
          <a:lstStyle/>
          <a:p>
            <a:r>
              <a:rPr lang="es-CO" u="sng" dirty="0"/>
              <a:t>Carga viva</a:t>
            </a:r>
          </a:p>
        </p:txBody>
      </p:sp>
    </p:spTree>
    <p:extLst>
      <p:ext uri="{BB962C8B-B14F-4D97-AF65-F5344CB8AC3E}">
        <p14:creationId xmlns:p14="http://schemas.microsoft.com/office/powerpoint/2010/main" val="3567600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A31A8-97C7-9826-26FB-5EBCB5868BC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BD332BA-815F-C9F2-9FE6-D970E34F2D81}"/>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ESCALERAS</a:t>
            </a:r>
          </a:p>
        </p:txBody>
      </p:sp>
      <p:pic>
        <p:nvPicPr>
          <p:cNvPr id="3" name="Picture 12" descr="Se conmemoran 150 años de la Universidad Nacional de Colombia">
            <a:extLst>
              <a:ext uri="{FF2B5EF4-FFF2-40B4-BE49-F238E27FC236}">
                <a16:creationId xmlns:a16="http://schemas.microsoft.com/office/drawing/2014/main" id="{74633FFF-C475-D345-B914-32FCE37B9F9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5B9315E9-3346-0D82-C474-684B11DD8863}"/>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DAD79021-8B5F-5E7B-8169-E656CFCC06CB}"/>
              </a:ext>
            </a:extLst>
          </p:cNvPr>
          <p:cNvSpPr txBox="1"/>
          <p:nvPr/>
        </p:nvSpPr>
        <p:spPr>
          <a:xfrm>
            <a:off x="235236" y="990531"/>
            <a:ext cx="11282181" cy="400110"/>
          </a:xfrm>
          <a:prstGeom prst="rect">
            <a:avLst/>
          </a:prstGeom>
          <a:noFill/>
        </p:spPr>
        <p:txBody>
          <a:bodyPr wrap="square">
            <a:spAutoFit/>
          </a:bodyPr>
          <a:lstStyle/>
          <a:p>
            <a:r>
              <a:rPr lang="es-CO" sz="2000" b="1" dirty="0"/>
              <a:t>Ejemplo</a:t>
            </a:r>
          </a:p>
        </p:txBody>
      </p:sp>
      <p:pic>
        <p:nvPicPr>
          <p:cNvPr id="6" name="Imagen 5">
            <a:extLst>
              <a:ext uri="{FF2B5EF4-FFF2-40B4-BE49-F238E27FC236}">
                <a16:creationId xmlns:a16="http://schemas.microsoft.com/office/drawing/2014/main" id="{788F6264-7E81-0CA7-97EA-12B527A423A9}"/>
              </a:ext>
            </a:extLst>
          </p:cNvPr>
          <p:cNvPicPr>
            <a:picLocks noChangeAspect="1"/>
          </p:cNvPicPr>
          <p:nvPr/>
        </p:nvPicPr>
        <p:blipFill>
          <a:blip r:embed="rId4"/>
          <a:stretch>
            <a:fillRect/>
          </a:stretch>
        </p:blipFill>
        <p:spPr>
          <a:xfrm>
            <a:off x="449091" y="1750549"/>
            <a:ext cx="5509737" cy="2933954"/>
          </a:xfrm>
          <a:prstGeom prst="rect">
            <a:avLst/>
          </a:prstGeom>
        </p:spPr>
      </p:pic>
      <p:pic>
        <p:nvPicPr>
          <p:cNvPr id="10" name="Imagen 9">
            <a:extLst>
              <a:ext uri="{FF2B5EF4-FFF2-40B4-BE49-F238E27FC236}">
                <a16:creationId xmlns:a16="http://schemas.microsoft.com/office/drawing/2014/main" id="{B4EBDF42-D676-DB87-D4DF-86EED60C7A6F}"/>
              </a:ext>
            </a:extLst>
          </p:cNvPr>
          <p:cNvPicPr>
            <a:picLocks noChangeAspect="1"/>
          </p:cNvPicPr>
          <p:nvPr/>
        </p:nvPicPr>
        <p:blipFill>
          <a:blip r:embed="rId5"/>
          <a:stretch>
            <a:fillRect/>
          </a:stretch>
        </p:blipFill>
        <p:spPr>
          <a:xfrm>
            <a:off x="6780534" y="1678546"/>
            <a:ext cx="5044877" cy="2827265"/>
          </a:xfrm>
          <a:prstGeom prst="rect">
            <a:avLst/>
          </a:prstGeom>
        </p:spPr>
      </p:pic>
      <p:sp>
        <p:nvSpPr>
          <p:cNvPr id="12" name="CuadroTexto 11">
            <a:extLst>
              <a:ext uri="{FF2B5EF4-FFF2-40B4-BE49-F238E27FC236}">
                <a16:creationId xmlns:a16="http://schemas.microsoft.com/office/drawing/2014/main" id="{CC04EA88-A740-9599-19BF-03F9E8A42BCD}"/>
              </a:ext>
            </a:extLst>
          </p:cNvPr>
          <p:cNvSpPr txBox="1"/>
          <p:nvPr/>
        </p:nvSpPr>
        <p:spPr>
          <a:xfrm>
            <a:off x="366589" y="1619228"/>
            <a:ext cx="1540856" cy="369332"/>
          </a:xfrm>
          <a:prstGeom prst="rect">
            <a:avLst/>
          </a:prstGeom>
          <a:noFill/>
        </p:spPr>
        <p:txBody>
          <a:bodyPr wrap="square">
            <a:spAutoFit/>
          </a:bodyPr>
          <a:lstStyle/>
          <a:p>
            <a:r>
              <a:rPr lang="es-CO" u="sng" dirty="0"/>
              <a:t>Momentos</a:t>
            </a:r>
          </a:p>
        </p:txBody>
      </p:sp>
      <p:sp>
        <p:nvSpPr>
          <p:cNvPr id="14" name="CuadroTexto 13">
            <a:extLst>
              <a:ext uri="{FF2B5EF4-FFF2-40B4-BE49-F238E27FC236}">
                <a16:creationId xmlns:a16="http://schemas.microsoft.com/office/drawing/2014/main" id="{D2272B38-0549-B378-D5B7-65C72D7FB7C8}"/>
              </a:ext>
            </a:extLst>
          </p:cNvPr>
          <p:cNvSpPr txBox="1"/>
          <p:nvPr/>
        </p:nvSpPr>
        <p:spPr>
          <a:xfrm>
            <a:off x="6947290" y="1493880"/>
            <a:ext cx="1540856" cy="369332"/>
          </a:xfrm>
          <a:prstGeom prst="rect">
            <a:avLst/>
          </a:prstGeom>
          <a:noFill/>
        </p:spPr>
        <p:txBody>
          <a:bodyPr wrap="square">
            <a:spAutoFit/>
          </a:bodyPr>
          <a:lstStyle/>
          <a:p>
            <a:r>
              <a:rPr lang="es-CO" u="sng" dirty="0"/>
              <a:t>Cortantes</a:t>
            </a:r>
          </a:p>
        </p:txBody>
      </p:sp>
      <p:pic>
        <p:nvPicPr>
          <p:cNvPr id="18" name="Imagen 17">
            <a:extLst>
              <a:ext uri="{FF2B5EF4-FFF2-40B4-BE49-F238E27FC236}">
                <a16:creationId xmlns:a16="http://schemas.microsoft.com/office/drawing/2014/main" id="{C6070077-EE4E-B915-43F7-D92919BCC983}"/>
              </a:ext>
            </a:extLst>
          </p:cNvPr>
          <p:cNvPicPr>
            <a:picLocks noChangeAspect="1"/>
          </p:cNvPicPr>
          <p:nvPr/>
        </p:nvPicPr>
        <p:blipFill>
          <a:blip r:embed="rId6"/>
          <a:stretch>
            <a:fillRect/>
          </a:stretch>
        </p:blipFill>
        <p:spPr>
          <a:xfrm>
            <a:off x="8157787" y="4902391"/>
            <a:ext cx="2628900" cy="1844040"/>
          </a:xfrm>
          <a:prstGeom prst="rect">
            <a:avLst/>
          </a:prstGeom>
        </p:spPr>
      </p:pic>
      <p:sp>
        <p:nvSpPr>
          <p:cNvPr id="21" name="Rectángulo 20">
            <a:extLst>
              <a:ext uri="{FF2B5EF4-FFF2-40B4-BE49-F238E27FC236}">
                <a16:creationId xmlns:a16="http://schemas.microsoft.com/office/drawing/2014/main" id="{781DC519-935A-7AD8-6DE6-C5F3D17D40A4}"/>
              </a:ext>
            </a:extLst>
          </p:cNvPr>
          <p:cNvSpPr/>
          <p:nvPr/>
        </p:nvSpPr>
        <p:spPr>
          <a:xfrm>
            <a:off x="3541594" y="3429000"/>
            <a:ext cx="1132764" cy="10133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Imagen 19">
            <a:extLst>
              <a:ext uri="{FF2B5EF4-FFF2-40B4-BE49-F238E27FC236}">
                <a16:creationId xmlns:a16="http://schemas.microsoft.com/office/drawing/2014/main" id="{F6C1B747-317F-A33F-0FF3-69AB0C092394}"/>
              </a:ext>
            </a:extLst>
          </p:cNvPr>
          <p:cNvPicPr>
            <a:picLocks noChangeAspect="1"/>
          </p:cNvPicPr>
          <p:nvPr/>
        </p:nvPicPr>
        <p:blipFill>
          <a:blip r:embed="rId7"/>
          <a:stretch>
            <a:fillRect/>
          </a:stretch>
        </p:blipFill>
        <p:spPr>
          <a:xfrm>
            <a:off x="3359908" y="3185160"/>
            <a:ext cx="2628900" cy="3672840"/>
          </a:xfrm>
          <a:prstGeom prst="rect">
            <a:avLst/>
          </a:prstGeom>
        </p:spPr>
      </p:pic>
    </p:spTree>
    <p:extLst>
      <p:ext uri="{BB962C8B-B14F-4D97-AF65-F5344CB8AC3E}">
        <p14:creationId xmlns:p14="http://schemas.microsoft.com/office/powerpoint/2010/main" val="60317426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 dockstate="right" visibility="0" width="438" row="4">
    <wetp:webextensionref xmlns:r="http://schemas.openxmlformats.org/officeDocument/2006/relationships" r:id="rId3"/>
  </wetp:taskpane>
  <wetp:taskpane dockstate="right" visibility="0" width="438" row="5">
    <wetp:webextensionref xmlns:r="http://schemas.openxmlformats.org/officeDocument/2006/relationships" r:id="rId4"/>
  </wetp:taskpane>
</wetp:taskpanes>
</file>

<file path=ppt/webextensions/webextension1.xml><?xml version="1.0" encoding="utf-8"?>
<we:webextension xmlns:we="http://schemas.microsoft.com/office/webextensions/webextension/2010/11" id="{136C85E0-5ABF-4979-86C4-4C77F8FCF8FD}">
  <we:reference id="wa200005566" version="3.0.0.3" store="es-ES" storeType="OMEX"/>
  <we:alternateReferences>
    <we:reference id="WA200005566" version="3.0.0.3"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A92D2F8-2D6B-43F4-9107-D5B423428A53}">
  <we:reference id="wa104178141" version="4.3.3.0" store="es-ES" storeType="OMEX"/>
  <we:alternateReferences>
    <we:reference id="WA104178141" version="4.3.3.0" store=""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0F836553-87E4-4F91-A9BD-E4A233CDCFF0}">
  <we:reference id="wa104379997" version="3.0.0.0" store="es-ES" storeType="OMEX"/>
  <we:alternateReferences>
    <we:reference id="WA104379997" version="3.0.0.0" store="" storeType="OMEX"/>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AA8FACC3-1067-4A67-BC48-BE0C4692552B}">
  <we:reference id="wa200005669" version="2.0.0.0" store="es-E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3234</TotalTime>
  <Words>857</Words>
  <Application>Microsoft Office PowerPoint</Application>
  <PresentationFormat>Panorámica</PresentationFormat>
  <Paragraphs>68</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Aptos</vt:lpstr>
      <vt:lpstr>Aptos Display</vt:lpstr>
      <vt:lpstr>Arial</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 Daniel Ladino Delgado</dc:creator>
  <cp:lastModifiedBy>Sergio Daniel Ladino Delgado</cp:lastModifiedBy>
  <cp:revision>20</cp:revision>
  <cp:lastPrinted>2026-02-17T02:38:43Z</cp:lastPrinted>
  <dcterms:created xsi:type="dcterms:W3CDTF">2026-01-31T17:27:28Z</dcterms:created>
  <dcterms:modified xsi:type="dcterms:W3CDTF">2026-06-08T21:18:01Z</dcterms:modified>
</cp:coreProperties>
</file>